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2.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slideLayout" Target="../slideLayouts/slideLayout2.xml"/><Relationship Id="rId1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slideLayout" Target="../slideLayouts/slideLayout2.xml"/><Relationship Id="rId2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slideLayout" Target="../slideLayouts/slideLayout2.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image" Target="../media/image-15-14.png"/><Relationship Id="rId15" Type="http://schemas.openxmlformats.org/officeDocument/2006/relationships/slideLayout" Target="../slideLayouts/slideLayout2.xml"/><Relationship Id="rId1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slideLayout" Target="../slideLayouts/slideLayout2.xml"/><Relationship Id="rId1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image" Target="../media/image-19-13.png"/><Relationship Id="rId14" Type="http://schemas.openxmlformats.org/officeDocument/2006/relationships/image" Target="../media/image-19-14.png"/><Relationship Id="rId15" Type="http://schemas.openxmlformats.org/officeDocument/2006/relationships/slideLayout" Target="../slideLayouts/slideLayout2.xml"/><Relationship Id="rId1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image" Target="../media/image-21-8.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image" Target="../media/image-21-12.png"/><Relationship Id="rId13" Type="http://schemas.openxmlformats.org/officeDocument/2006/relationships/image" Target="../media/image-21-13.png"/><Relationship Id="rId14" Type="http://schemas.openxmlformats.org/officeDocument/2006/relationships/image" Target="../media/image-21-14.png"/><Relationship Id="rId15" Type="http://schemas.openxmlformats.org/officeDocument/2006/relationships/image" Target="../media/image-21-15.png"/><Relationship Id="rId16" Type="http://schemas.openxmlformats.org/officeDocument/2006/relationships/image" Target="../media/image-21-16.png"/><Relationship Id="rId17" Type="http://schemas.openxmlformats.org/officeDocument/2006/relationships/image" Target="../media/image-21-17.png"/><Relationship Id="rId18" Type="http://schemas.openxmlformats.org/officeDocument/2006/relationships/image" Target="../media/image-21-18.png"/><Relationship Id="rId19" Type="http://schemas.openxmlformats.org/officeDocument/2006/relationships/image" Target="../media/image-21-19.png"/><Relationship Id="rId20" Type="http://schemas.openxmlformats.org/officeDocument/2006/relationships/image" Target="../media/image-21-20.png"/><Relationship Id="rId21" Type="http://schemas.openxmlformats.org/officeDocument/2006/relationships/image" Target="../media/image-21-21.png"/><Relationship Id="rId22" Type="http://schemas.openxmlformats.org/officeDocument/2006/relationships/image" Target="../media/image-21-22.png"/><Relationship Id="rId23" Type="http://schemas.openxmlformats.org/officeDocument/2006/relationships/image" Target="../media/image-21-23.png"/><Relationship Id="rId24" Type="http://schemas.openxmlformats.org/officeDocument/2006/relationships/image" Target="../media/image-21-24.png"/><Relationship Id="rId25" Type="http://schemas.openxmlformats.org/officeDocument/2006/relationships/image" Target="../media/image-21-25.png"/><Relationship Id="rId26" Type="http://schemas.openxmlformats.org/officeDocument/2006/relationships/slideLayout" Target="../slideLayouts/slideLayout2.xml"/><Relationship Id="rId2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2.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2.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image" Target="../media/image-27-12.png"/><Relationship Id="rId13" Type="http://schemas.openxmlformats.org/officeDocument/2006/relationships/image" Target="../media/image-27-13.png"/><Relationship Id="rId14" Type="http://schemas.openxmlformats.org/officeDocument/2006/relationships/image" Target="../media/image-27-14.png"/><Relationship Id="rId15" Type="http://schemas.openxmlformats.org/officeDocument/2006/relationships/slideLayout" Target="../slideLayouts/slideLayout2.xml"/><Relationship Id="rId1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2.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2.xml"/><Relationship Id="rId4"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sp>
        <p:nvSpPr>
          <p:cNvPr id="3" name="Text 0"/>
          <p:cNvSpPr/>
          <p:nvPr/>
        </p:nvSpPr>
        <p:spPr>
          <a:xfrm>
            <a:off x="832104" y="1517904"/>
            <a:ext cx="12984480" cy="822960"/>
          </a:xfrm>
          <a:prstGeom prst="rect">
            <a:avLst/>
          </a:prstGeom>
          <a:noFill/>
          <a:ln/>
        </p:spPr>
        <p:txBody>
          <a:bodyPr wrap="none" lIns="0" tIns="0" rIns="0" bIns="0" rtlCol="0" anchor="ctr"/>
          <a:lstStyle/>
          <a:p>
            <a:pPr algn="ctr" indent="0" marL="0">
              <a:lnSpc>
                <a:spcPts val="6410"/>
              </a:lnSpc>
              <a:buNone/>
            </a:pPr>
            <a:endParaRPr lang="en-US" sz="5120" dirty="0"/>
          </a:p>
        </p:txBody>
      </p:sp>
      <p:sp>
        <p:nvSpPr>
          <p:cNvPr id="4" name="Text 1"/>
          <p:cNvSpPr/>
          <p:nvPr/>
        </p:nvSpPr>
        <p:spPr>
          <a:xfrm>
            <a:off x="832104" y="2542032"/>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5" name="Text 2"/>
          <p:cNvSpPr/>
          <p:nvPr/>
        </p:nvSpPr>
        <p:spPr>
          <a:xfrm>
            <a:off x="832104" y="299008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6" name="Text 3"/>
          <p:cNvSpPr/>
          <p:nvPr/>
        </p:nvSpPr>
        <p:spPr>
          <a:xfrm>
            <a:off x="832104" y="3438144"/>
            <a:ext cx="12984480" cy="822960"/>
          </a:xfrm>
          <a:prstGeom prst="rect">
            <a:avLst/>
          </a:prstGeom>
          <a:noFill/>
          <a:ln/>
        </p:spPr>
        <p:txBody>
          <a:bodyPr wrap="none" lIns="0" tIns="0" rIns="0" bIns="0" rtlCol="0" anchor="ctr"/>
          <a:lstStyle/>
          <a:p>
            <a:pPr algn="ctr" indent="0" marL="0">
              <a:lnSpc>
                <a:spcPts val="6410"/>
              </a:lnSpc>
              <a:buNone/>
            </a:pPr>
            <a:r>
              <a:rPr lang="en-US" sz="5120" dirty="0">
                <a:solidFill>
                  <a:srgbClr val="3F4460"/>
                </a:solidFill>
                <a:latin typeface="思源宋体-思源宋体-Heavy" pitchFamily="34" charset="0"/>
                <a:ea typeface="思源宋体-思源宋体-Heavy" pitchFamily="34" charset="-122"/>
                <a:cs typeface="思源宋体-思源宋体-Heavy" pitchFamily="34" charset="-120"/>
              </a:rPr>
              <a:t>Adventure Works Analysis </a:t>
            </a:r>
            <a:endParaRPr lang="en-US" sz="5120" dirty="0"/>
          </a:p>
        </p:txBody>
      </p:sp>
      <p:sp>
        <p:nvSpPr>
          <p:cNvPr id="7" name="Text 4"/>
          <p:cNvSpPr/>
          <p:nvPr/>
        </p:nvSpPr>
        <p:spPr>
          <a:xfrm>
            <a:off x="832104" y="4462272"/>
            <a:ext cx="12984480" cy="475488"/>
          </a:xfrm>
          <a:prstGeom prst="rect">
            <a:avLst/>
          </a:prstGeom>
          <a:noFill/>
          <a:ln/>
        </p:spPr>
        <p:txBody>
          <a:bodyPr wrap="none" lIns="0" tIns="0" rIns="0" bIns="0" rtlCol="0" anchor="ctr"/>
          <a:lstStyle/>
          <a:p>
            <a:pPr algn="ctr" indent="0" marL="0">
              <a:lnSpc>
                <a:spcPts val="3710"/>
              </a:lnSpc>
              <a:buNone/>
            </a:pPr>
            <a:r>
              <a:rPr lang="en-US" sz="2970" dirty="0">
                <a:solidFill>
                  <a:srgbClr val="3F4460"/>
                </a:solidFill>
                <a:latin typeface="思源宋体-思源宋体-Heavy" pitchFamily="34" charset="0"/>
                <a:ea typeface="思源宋体-思源宋体-Heavy" pitchFamily="34" charset="-122"/>
                <a:cs typeface="思源宋体-思源宋体-Heavy" pitchFamily="34" charset="-120"/>
              </a:rPr>
              <a:t>Mariam Tarek</a:t>
            </a:r>
            <a:endParaRPr lang="en-US" sz="2970" dirty="0"/>
          </a:p>
        </p:txBody>
      </p:sp>
      <p:sp>
        <p:nvSpPr>
          <p:cNvPr id="8" name="Text 5"/>
          <p:cNvSpPr/>
          <p:nvPr/>
        </p:nvSpPr>
        <p:spPr>
          <a:xfrm>
            <a:off x="832104" y="5148072"/>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9" name="Text 6"/>
          <p:cNvSpPr/>
          <p:nvPr/>
        </p:nvSpPr>
        <p:spPr>
          <a:xfrm>
            <a:off x="832104" y="559612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0" name="Text 7"/>
          <p:cNvSpPr/>
          <p:nvPr/>
        </p:nvSpPr>
        <p:spPr>
          <a:xfrm>
            <a:off x="832104" y="6044184"/>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1" name="Text 8"/>
          <p:cNvSpPr/>
          <p:nvPr/>
        </p:nvSpPr>
        <p:spPr>
          <a:xfrm>
            <a:off x="832104" y="6492240"/>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8238744"/>
          </a:xfrm>
          <a:prstGeom prst="rect">
            <a:avLst/>
          </a:prstGeom>
        </p:spPr>
      </p:pic>
      <p:sp>
        <p:nvSpPr>
          <p:cNvPr id="4" name="Text 0"/>
          <p:cNvSpPr/>
          <p:nvPr/>
        </p:nvSpPr>
        <p:spPr>
          <a:xfrm>
            <a:off x="832104" y="1444752"/>
            <a:ext cx="12984480" cy="822960"/>
          </a:xfrm>
          <a:prstGeom prst="rect">
            <a:avLst/>
          </a:prstGeom>
          <a:noFill/>
          <a:ln/>
        </p:spPr>
        <p:txBody>
          <a:bodyPr wrap="none" lIns="0" tIns="0" rIns="0" bIns="0" rtlCol="0" anchor="ctr"/>
          <a:lstStyle/>
          <a:p>
            <a:pPr algn="l" indent="0" marL="0">
              <a:lnSpc>
                <a:spcPts val="6410"/>
              </a:lnSpc>
              <a:buNone/>
            </a:pPr>
            <a:endParaRPr lang="en-US" sz="5120" dirty="0"/>
          </a:p>
        </p:txBody>
      </p:sp>
      <p:sp>
        <p:nvSpPr>
          <p:cNvPr id="5" name="Text 1"/>
          <p:cNvSpPr/>
          <p:nvPr/>
        </p:nvSpPr>
        <p:spPr>
          <a:xfrm>
            <a:off x="832104" y="2478024"/>
            <a:ext cx="12984480" cy="822960"/>
          </a:xfrm>
          <a:prstGeom prst="rect">
            <a:avLst/>
          </a:prstGeom>
          <a:noFill/>
          <a:ln/>
        </p:spPr>
        <p:txBody>
          <a:bodyPr wrap="none" lIns="0" tIns="0" rIns="0" bIns="0" rtlCol="0" anchor="ctr"/>
          <a:lstStyle/>
          <a:p>
            <a:pPr algn="l" indent="0" marL="0">
              <a:lnSpc>
                <a:spcPts val="6410"/>
              </a:lnSpc>
              <a:buNone/>
            </a:pPr>
            <a:r>
              <a:rPr lang="en-US" sz="5120" dirty="0">
                <a:solidFill>
                  <a:srgbClr val="3F4460"/>
                </a:solidFill>
                <a:latin typeface="思源宋体-思源宋体-Heavy" pitchFamily="34" charset="0"/>
                <a:ea typeface="思源宋体-思源宋体-Heavy" pitchFamily="34" charset="-122"/>
                <a:cs typeface="思源宋体-思源宋体-Heavy" pitchFamily="34" charset="-120"/>
              </a:rPr>
              <a:t>CONTENTS</a:t>
            </a:r>
            <a:endParaRPr lang="en-US" sz="5120" dirty="0"/>
          </a:p>
        </p:txBody>
      </p:sp>
      <p:sp>
        <p:nvSpPr>
          <p:cNvPr id="6" name="Text 2"/>
          <p:cNvSpPr/>
          <p:nvPr/>
        </p:nvSpPr>
        <p:spPr>
          <a:xfrm>
            <a:off x="1033272" y="3703320"/>
            <a:ext cx="2697480"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1. Project Overview</a:t>
            </a:r>
            <a:endParaRPr lang="en-US" sz="1850" dirty="0"/>
          </a:p>
        </p:txBody>
      </p:sp>
      <p:sp>
        <p:nvSpPr>
          <p:cNvPr id="7" name="Text 3"/>
          <p:cNvSpPr/>
          <p:nvPr/>
        </p:nvSpPr>
        <p:spPr>
          <a:xfrm>
            <a:off x="1033272" y="4892040"/>
            <a:ext cx="2697480" cy="594360"/>
          </a:xfrm>
          <a:prstGeom prst="rect">
            <a:avLst/>
          </a:prstGeom>
          <a:noFill/>
          <a:ln/>
        </p:spPr>
        <p:txBody>
          <a:bodyPr wrap="squar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5. Python Data Analysis</a:t>
            </a:r>
            <a:endParaRPr lang="en-US" sz="1850" dirty="0"/>
          </a:p>
        </p:txBody>
      </p:sp>
      <p:sp>
        <p:nvSpPr>
          <p:cNvPr id="8" name="Text 4"/>
          <p:cNvSpPr/>
          <p:nvPr/>
        </p:nvSpPr>
        <p:spPr>
          <a:xfrm>
            <a:off x="4325112" y="3703320"/>
            <a:ext cx="2697480" cy="594360"/>
          </a:xfrm>
          <a:prstGeom prst="rect">
            <a:avLst/>
          </a:prstGeom>
          <a:noFill/>
          <a:ln/>
        </p:spPr>
        <p:txBody>
          <a:bodyPr wrap="squar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2. Data Architecture &amp; Relationships</a:t>
            </a:r>
            <a:endParaRPr lang="en-US" sz="1850" dirty="0"/>
          </a:p>
        </p:txBody>
      </p:sp>
      <p:sp>
        <p:nvSpPr>
          <p:cNvPr id="9" name="Text 5"/>
          <p:cNvSpPr/>
          <p:nvPr/>
        </p:nvSpPr>
        <p:spPr>
          <a:xfrm>
            <a:off x="832104" y="5897880"/>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0" name="Text 6"/>
          <p:cNvSpPr/>
          <p:nvPr/>
        </p:nvSpPr>
        <p:spPr>
          <a:xfrm>
            <a:off x="832104" y="6345936"/>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1" name="Text 7"/>
          <p:cNvSpPr/>
          <p:nvPr/>
        </p:nvSpPr>
        <p:spPr>
          <a:xfrm>
            <a:off x="4325112" y="4892040"/>
            <a:ext cx="2697480" cy="594360"/>
          </a:xfrm>
          <a:prstGeom prst="rect">
            <a:avLst/>
          </a:prstGeom>
          <a:noFill/>
          <a:ln/>
        </p:spPr>
        <p:txBody>
          <a:bodyPr wrap="squar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6. Key Business Insights</a:t>
            </a:r>
            <a:endParaRPr lang="en-US" sz="1850" dirty="0"/>
          </a:p>
        </p:txBody>
      </p:sp>
      <p:sp>
        <p:nvSpPr>
          <p:cNvPr id="12" name="Text 8"/>
          <p:cNvSpPr/>
          <p:nvPr/>
        </p:nvSpPr>
        <p:spPr>
          <a:xfrm>
            <a:off x="7616952" y="3703320"/>
            <a:ext cx="2697480" cy="594360"/>
          </a:xfrm>
          <a:prstGeom prst="rect">
            <a:avLst/>
          </a:prstGeom>
          <a:noFill/>
          <a:ln/>
        </p:spPr>
        <p:txBody>
          <a:bodyPr wrap="squar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3. Power BI Dashboards</a:t>
            </a:r>
            <a:endParaRPr lang="en-US" sz="1850" dirty="0"/>
          </a:p>
        </p:txBody>
      </p:sp>
      <p:sp>
        <p:nvSpPr>
          <p:cNvPr id="13" name="Text 9"/>
          <p:cNvSpPr/>
          <p:nvPr/>
        </p:nvSpPr>
        <p:spPr>
          <a:xfrm>
            <a:off x="7616952" y="4892040"/>
            <a:ext cx="2697480" cy="594360"/>
          </a:xfrm>
          <a:prstGeom prst="rect">
            <a:avLst/>
          </a:prstGeom>
          <a:noFill/>
          <a:ln/>
        </p:spPr>
        <p:txBody>
          <a:bodyPr wrap="squar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7. Strategic Recommendations</a:t>
            </a:r>
            <a:endParaRPr lang="en-US" sz="1850" dirty="0"/>
          </a:p>
        </p:txBody>
      </p:sp>
      <p:sp>
        <p:nvSpPr>
          <p:cNvPr id="14" name="Text 10"/>
          <p:cNvSpPr/>
          <p:nvPr/>
        </p:nvSpPr>
        <p:spPr>
          <a:xfrm>
            <a:off x="10908792" y="3703320"/>
            <a:ext cx="2697480"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4. SQL Analytics</a:t>
            </a:r>
            <a:endParaRPr lang="en-US" sz="1850" dirty="0"/>
          </a:p>
        </p:txBody>
      </p:sp>
      <p:sp>
        <p:nvSpPr>
          <p:cNvPr id="15" name="Text 11"/>
          <p:cNvSpPr/>
          <p:nvPr/>
        </p:nvSpPr>
        <p:spPr>
          <a:xfrm>
            <a:off x="10908792" y="4892040"/>
            <a:ext cx="2697480"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12. Conclusion</a:t>
            </a:r>
            <a:endParaRPr lang="en-US" sz="1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8238744"/>
          </a:xfrm>
          <a:prstGeom prst="rect">
            <a:avLst/>
          </a:prstGeom>
        </p:spPr>
      </p:pic>
      <p:pic>
        <p:nvPicPr>
          <p:cNvPr id="4" name="Image 2" descr="preencoded.png">    </p:cNvPr>
          <p:cNvPicPr>
            <a:picLocks noChangeAspect="1"/>
          </p:cNvPicPr>
          <p:nvPr/>
        </p:nvPicPr>
        <p:blipFill>
          <a:blip r:embed="rId3"/>
          <a:stretch>
            <a:fillRect/>
          </a:stretch>
        </p:blipFill>
        <p:spPr>
          <a:xfrm>
            <a:off x="832104" y="5321808"/>
            <a:ext cx="12984480" cy="27432"/>
          </a:xfrm>
          <a:prstGeom prst="rect">
            <a:avLst/>
          </a:prstGeom>
        </p:spPr>
      </p:pic>
      <p:sp>
        <p:nvSpPr>
          <p:cNvPr id="5" name="Text 0"/>
          <p:cNvSpPr/>
          <p:nvPr/>
        </p:nvSpPr>
        <p:spPr>
          <a:xfrm>
            <a:off x="832104" y="134416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6" name="Text 1"/>
          <p:cNvSpPr/>
          <p:nvPr/>
        </p:nvSpPr>
        <p:spPr>
          <a:xfrm>
            <a:off x="832104" y="1792224"/>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7" name="Text 2"/>
          <p:cNvSpPr/>
          <p:nvPr/>
        </p:nvSpPr>
        <p:spPr>
          <a:xfrm>
            <a:off x="832104" y="2240280"/>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8" name="Text 3"/>
          <p:cNvSpPr/>
          <p:nvPr/>
        </p:nvSpPr>
        <p:spPr>
          <a:xfrm>
            <a:off x="832104" y="2688336"/>
            <a:ext cx="12984480" cy="822960"/>
          </a:xfrm>
          <a:prstGeom prst="rect">
            <a:avLst/>
          </a:prstGeom>
          <a:noFill/>
          <a:ln/>
        </p:spPr>
        <p:txBody>
          <a:bodyPr wrap="none" lIns="0" tIns="0" rIns="0" bIns="0" rtlCol="0" anchor="ctr"/>
          <a:lstStyle/>
          <a:p>
            <a:pPr algn="l" indent="0" marL="0">
              <a:lnSpc>
                <a:spcPts val="6410"/>
              </a:lnSpc>
              <a:buNone/>
            </a:pPr>
            <a:r>
              <a:rPr lang="en-US" sz="5120" i="1" dirty="0">
                <a:solidFill>
                  <a:srgbClr val="3F4460"/>
                </a:solidFill>
                <a:latin typeface="思源宋体-思源宋体-Heavy" pitchFamily="34" charset="0"/>
                <a:ea typeface="思源宋体-思源宋体-Heavy" pitchFamily="34" charset="-122"/>
                <a:cs typeface="思源宋体-思源宋体-Heavy" pitchFamily="34" charset="-120"/>
              </a:rPr>
              <a:t>01</a:t>
            </a:r>
            <a:endParaRPr lang="en-US" sz="5120" dirty="0"/>
          </a:p>
        </p:txBody>
      </p:sp>
      <p:sp>
        <p:nvSpPr>
          <p:cNvPr id="9" name="Text 4"/>
          <p:cNvSpPr/>
          <p:nvPr/>
        </p:nvSpPr>
        <p:spPr>
          <a:xfrm>
            <a:off x="832104" y="3712464"/>
            <a:ext cx="12984480" cy="594360"/>
          </a:xfrm>
          <a:prstGeom prst="rect">
            <a:avLst/>
          </a:prstGeom>
          <a:noFill/>
          <a:ln/>
        </p:spPr>
        <p:txBody>
          <a:bodyPr wrap="none" lIns="0" tIns="0" rIns="0" bIns="0" rtlCol="0" anchor="ctr"/>
          <a:lstStyle/>
          <a:p>
            <a:pPr algn="l" indent="0" marL="0">
              <a:lnSpc>
                <a:spcPts val="4640"/>
              </a:lnSpc>
              <a:buNone/>
            </a:pPr>
            <a:r>
              <a:rPr lang="en-US" sz="3710" i="1" dirty="0">
                <a:solidFill>
                  <a:srgbClr val="3F4460"/>
                </a:solidFill>
                <a:latin typeface="思源宋体-思源宋体-Heavy" pitchFamily="34" charset="0"/>
                <a:ea typeface="思源宋体-思源宋体-Heavy" pitchFamily="34" charset="-122"/>
                <a:cs typeface="思源宋体-思源宋体-Heavy" pitchFamily="34" charset="-120"/>
              </a:rPr>
              <a:t>Project Overview</a:t>
            </a:r>
            <a:endParaRPr lang="en-US" sz="3710" dirty="0"/>
          </a:p>
        </p:txBody>
      </p:sp>
      <p:sp>
        <p:nvSpPr>
          <p:cNvPr id="10" name="Text 5"/>
          <p:cNvSpPr/>
          <p:nvPr/>
        </p:nvSpPr>
        <p:spPr>
          <a:xfrm>
            <a:off x="832104" y="4517136"/>
            <a:ext cx="12984480" cy="594360"/>
          </a:xfrm>
          <a:prstGeom prst="rect">
            <a:avLst/>
          </a:prstGeom>
          <a:noFill/>
          <a:ln/>
        </p:spPr>
        <p:txBody>
          <a:bodyPr wrap="none" lIns="0" tIns="0" rIns="0" bIns="0" rtlCol="0" anchor="ctr"/>
          <a:lstStyle/>
          <a:p>
            <a:pPr algn="l" indent="0" marL="0">
              <a:lnSpc>
                <a:spcPts val="4640"/>
              </a:lnSpc>
              <a:buNone/>
            </a:pPr>
            <a:r>
              <a:rPr lang="en-US" sz="3710" i="1" dirty="0">
                <a:solidFill>
                  <a:srgbClr val="3F4460"/>
                </a:solidFill>
                <a:latin typeface="思源宋体-思源宋体-Heavy" pitchFamily="34" charset="0"/>
                <a:ea typeface="思源宋体-思源宋体-Heavy" pitchFamily="34" charset="-122"/>
                <a:cs typeface="思源宋体-思源宋体-Heavy" pitchFamily="34" charset="-120"/>
              </a:rPr>
              <a:t> </a:t>
            </a:r>
            <a:endParaRPr lang="en-US" sz="3710" dirty="0"/>
          </a:p>
        </p:txBody>
      </p:sp>
      <p:sp>
        <p:nvSpPr>
          <p:cNvPr id="11" name="Text 6"/>
          <p:cNvSpPr/>
          <p:nvPr/>
        </p:nvSpPr>
        <p:spPr>
          <a:xfrm>
            <a:off x="832104" y="555040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2" name="Text 7"/>
          <p:cNvSpPr/>
          <p:nvPr/>
        </p:nvSpPr>
        <p:spPr>
          <a:xfrm>
            <a:off x="832104" y="5998464"/>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3" name="Text 8"/>
          <p:cNvSpPr/>
          <p:nvPr/>
        </p:nvSpPr>
        <p:spPr>
          <a:xfrm>
            <a:off x="832104" y="6446520"/>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2807208"/>
          </a:xfrm>
          <a:prstGeom prst="rect">
            <a:avLst/>
          </a:prstGeom>
        </p:spPr>
      </p:pic>
      <p:sp>
        <p:nvSpPr>
          <p:cNvPr id="4" name="Text 0"/>
          <p:cNvSpPr/>
          <p:nvPr/>
        </p:nvSpPr>
        <p:spPr>
          <a:xfrm>
            <a:off x="832104" y="3602736"/>
            <a:ext cx="12984480" cy="594360"/>
          </a:xfrm>
          <a:prstGeom prst="rect">
            <a:avLst/>
          </a:prstGeom>
          <a:noFill/>
          <a:ln/>
        </p:spPr>
        <p:txBody>
          <a:bodyPr wrap="non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Project Overview</a:t>
            </a:r>
            <a:endParaRPr lang="en-US" sz="3710" dirty="0"/>
          </a:p>
        </p:txBody>
      </p:sp>
      <p:sp>
        <p:nvSpPr>
          <p:cNvPr id="5" name="Text 1"/>
          <p:cNvSpPr/>
          <p:nvPr/>
        </p:nvSpPr>
        <p:spPr>
          <a:xfrm>
            <a:off x="832104" y="4398264"/>
            <a:ext cx="12984480" cy="2834640"/>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The Adventure Works dataset represents a simulated business environment of a global manufacturing and sales company that produces and sells products such as bikes, accessories, and components through multiple sales channels — including resellers, direct customers, and regional sales teams.</a:t>
            </a:r>
            <a:pPr algn="l" indent="0" marL="0">
              <a:lnSpc>
                <a:spcPts val="1850"/>
              </a:lnSpc>
              <a:buNone/>
            </a:pPr>
            <a:endParaRPr lang="en-US" sz="1480" dirty="0"/>
          </a:p>
          <a:p>
            <a:pPr algn="l" indent="0" marL="0">
              <a:lnSpc>
                <a:spcPts val="1850"/>
              </a:lnSpc>
              <a:buNone/>
            </a:pPr>
            <a:endParaRPr lang="en-US" sz="1480" dirty="0"/>
          </a:p>
          <a:p>
            <a:pPr algn="l" indent="0" marL="0">
              <a:lnSpc>
                <a:spcPts val="1850"/>
              </a:lnSpc>
              <a:buNone/>
            </a:pPr>
            <a:endParaRPr lang="en-US" sz="1480" dirty="0"/>
          </a:p>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This dataset is designed to reflect real-world business operations, containing data about sales transactions, employees, customers, products, targets, and regional performance. It enables analysts to explore how sales, profitability, and performance vary across time, regions, and product categories.</a:t>
            </a:r>
            <a:pPr algn="l" indent="0" marL="0">
              <a:lnSpc>
                <a:spcPts val="1850"/>
              </a:lnSpc>
              <a:buNone/>
            </a:pPr>
            <a:endParaRPr lang="en-US" sz="1480" dirty="0"/>
          </a:p>
          <a:p>
            <a:pPr algn="l" indent="0" marL="0">
              <a:lnSpc>
                <a:spcPts val="1850"/>
              </a:lnSpc>
              <a:buNone/>
            </a:pPr>
            <a:endParaRPr lang="en-US" sz="1480" dirty="0"/>
          </a:p>
          <a:p>
            <a:pPr algn="l" indent="0" marL="0">
              <a:lnSpc>
                <a:spcPts val="1850"/>
              </a:lnSpc>
              <a:buNone/>
            </a:pPr>
            <a:endParaRPr lang="en-US" sz="1480" dirty="0"/>
          </a:p>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The dataset is widely used for data analytics, business intelligence, and visualization projects because it provides a comprehensive view of business processes — from order placement to performance evaluation.</a:t>
            </a:r>
            <a:endParaRPr lang="en-US" sz="14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9656064" y="0"/>
            <a:ext cx="4974336" cy="8238744"/>
          </a:xfrm>
          <a:prstGeom prst="rect">
            <a:avLst/>
          </a:prstGeom>
        </p:spPr>
      </p:pic>
      <p:pic>
        <p:nvPicPr>
          <p:cNvPr id="4" name="Image 2" descr="preencoded.png">    </p:cNvPr>
          <p:cNvPicPr>
            <a:picLocks noChangeAspect="1"/>
          </p:cNvPicPr>
          <p:nvPr/>
        </p:nvPicPr>
        <p:blipFill>
          <a:blip r:embed="rId3"/>
          <a:stretch>
            <a:fillRect/>
          </a:stretch>
        </p:blipFill>
        <p:spPr>
          <a:xfrm>
            <a:off x="832104" y="3593592"/>
            <a:ext cx="3913632" cy="914400"/>
          </a:xfrm>
          <a:prstGeom prst="rect">
            <a:avLst/>
          </a:prstGeom>
        </p:spPr>
      </p:pic>
      <p:pic>
        <p:nvPicPr>
          <p:cNvPr id="5" name="Image 3" descr="preencoded.png">    </p:cNvPr>
          <p:cNvPicPr>
            <a:picLocks noChangeAspect="1"/>
          </p:cNvPicPr>
          <p:nvPr/>
        </p:nvPicPr>
        <p:blipFill>
          <a:blip r:embed="rId4"/>
          <a:stretch>
            <a:fillRect/>
          </a:stretch>
        </p:blipFill>
        <p:spPr>
          <a:xfrm>
            <a:off x="832104" y="4690872"/>
            <a:ext cx="3913632" cy="914400"/>
          </a:xfrm>
          <a:prstGeom prst="rect">
            <a:avLst/>
          </a:prstGeom>
        </p:spPr>
      </p:pic>
      <p:pic>
        <p:nvPicPr>
          <p:cNvPr id="6" name="Image 4" descr="preencoded.png">    </p:cNvPr>
          <p:cNvPicPr>
            <a:picLocks noChangeAspect="1"/>
          </p:cNvPicPr>
          <p:nvPr/>
        </p:nvPicPr>
        <p:blipFill>
          <a:blip r:embed="rId5"/>
          <a:stretch>
            <a:fillRect/>
          </a:stretch>
        </p:blipFill>
        <p:spPr>
          <a:xfrm>
            <a:off x="4928616" y="3593592"/>
            <a:ext cx="3913632" cy="914400"/>
          </a:xfrm>
          <a:prstGeom prst="rect">
            <a:avLst/>
          </a:prstGeom>
        </p:spPr>
      </p:pic>
      <p:pic>
        <p:nvPicPr>
          <p:cNvPr id="7" name="Image 5" descr="preencoded.png">    </p:cNvPr>
          <p:cNvPicPr>
            <a:picLocks noChangeAspect="1"/>
          </p:cNvPicPr>
          <p:nvPr/>
        </p:nvPicPr>
        <p:blipFill>
          <a:blip r:embed="rId6"/>
          <a:stretch>
            <a:fillRect/>
          </a:stretch>
        </p:blipFill>
        <p:spPr>
          <a:xfrm>
            <a:off x="4928616" y="4690872"/>
            <a:ext cx="3913632" cy="914400"/>
          </a:xfrm>
          <a:prstGeom prst="rect">
            <a:avLst/>
          </a:prstGeom>
        </p:spPr>
      </p:pic>
      <p:sp>
        <p:nvSpPr>
          <p:cNvPr id="8" name="Text 0"/>
          <p:cNvSpPr/>
          <p:nvPr/>
        </p:nvSpPr>
        <p:spPr>
          <a:xfrm>
            <a:off x="832104" y="1536192"/>
            <a:ext cx="8010144" cy="594360"/>
          </a:xfrm>
          <a:prstGeom prst="rect">
            <a:avLst/>
          </a:prstGeom>
          <a:noFill/>
          <a:ln/>
        </p:spPr>
        <p:txBody>
          <a:bodyPr wrap="none" lIns="0" tIns="0" rIns="0" bIns="0" rtlCol="0" anchor="ctr"/>
          <a:lstStyle/>
          <a:p>
            <a:pPr algn="l" indent="0" marL="0">
              <a:lnSpc>
                <a:spcPts val="4640"/>
              </a:lnSpc>
              <a:buNone/>
            </a:pPr>
            <a:endParaRPr lang="en-US" sz="3710" dirty="0"/>
          </a:p>
        </p:txBody>
      </p:sp>
      <p:sp>
        <p:nvSpPr>
          <p:cNvPr id="9" name="Text 1"/>
          <p:cNvSpPr/>
          <p:nvPr/>
        </p:nvSpPr>
        <p:spPr>
          <a:xfrm>
            <a:off x="832104" y="2340864"/>
            <a:ext cx="8010144" cy="594360"/>
          </a:xfrm>
          <a:prstGeom prst="rect">
            <a:avLst/>
          </a:prstGeom>
          <a:noFill/>
          <a:ln/>
        </p:spPr>
        <p:txBody>
          <a:bodyPr wrap="non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Data Scope</a:t>
            </a:r>
            <a:endParaRPr lang="en-US" sz="3710" dirty="0"/>
          </a:p>
        </p:txBody>
      </p:sp>
      <p:sp>
        <p:nvSpPr>
          <p:cNvPr id="10" name="Text 2"/>
          <p:cNvSpPr/>
          <p:nvPr/>
        </p:nvSpPr>
        <p:spPr>
          <a:xfrm>
            <a:off x="832104" y="3145536"/>
            <a:ext cx="8010144"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1" name="Text 3"/>
          <p:cNvSpPr/>
          <p:nvPr/>
        </p:nvSpPr>
        <p:spPr>
          <a:xfrm>
            <a:off x="1051560" y="3803904"/>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7 interconnected tables with relational data</a:t>
            </a:r>
            <a:endParaRPr lang="en-US" sz="1480" dirty="0"/>
          </a:p>
        </p:txBody>
      </p:sp>
      <p:sp>
        <p:nvSpPr>
          <p:cNvPr id="12" name="Text 4"/>
          <p:cNvSpPr/>
          <p:nvPr/>
        </p:nvSpPr>
        <p:spPr>
          <a:xfrm>
            <a:off x="1051560" y="4901184"/>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Key dimensions: Sales, Products, Regions, Salespeople, Resellers</a:t>
            </a:r>
            <a:endParaRPr lang="en-US" sz="1480" dirty="0"/>
          </a:p>
        </p:txBody>
      </p:sp>
      <p:sp>
        <p:nvSpPr>
          <p:cNvPr id="13" name="Text 5"/>
          <p:cNvSpPr/>
          <p:nvPr/>
        </p:nvSpPr>
        <p:spPr>
          <a:xfrm>
            <a:off x="832104" y="5806440"/>
            <a:ext cx="8010144"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4" name="Text 6"/>
          <p:cNvSpPr/>
          <p:nvPr/>
        </p:nvSpPr>
        <p:spPr>
          <a:xfrm>
            <a:off x="832104" y="6254496"/>
            <a:ext cx="8010144"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5" name="Text 7"/>
          <p:cNvSpPr/>
          <p:nvPr/>
        </p:nvSpPr>
        <p:spPr>
          <a:xfrm>
            <a:off x="5148072" y="3803904"/>
            <a:ext cx="3474720"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Time period: 2017 - 2020</a:t>
            </a:r>
            <a:endParaRPr lang="en-US" sz="1480" dirty="0"/>
          </a:p>
        </p:txBody>
      </p:sp>
      <p:sp>
        <p:nvSpPr>
          <p:cNvPr id="16" name="Text 8"/>
          <p:cNvSpPr/>
          <p:nvPr/>
        </p:nvSpPr>
        <p:spPr>
          <a:xfrm>
            <a:off x="5148072" y="4901184"/>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Primary metrics: Revenue, Profit, Quantity, Targets</a:t>
            </a:r>
            <a:endParaRPr lang="en-US" sz="14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832104" y="1709928"/>
            <a:ext cx="6400800" cy="2926080"/>
          </a:xfrm>
          <a:prstGeom prst="rect">
            <a:avLst/>
          </a:prstGeom>
        </p:spPr>
      </p:pic>
      <p:pic>
        <p:nvPicPr>
          <p:cNvPr id="4" name="Image 2" descr="preencoded.png">    </p:cNvPr>
          <p:cNvPicPr>
            <a:picLocks noChangeAspect="1"/>
          </p:cNvPicPr>
          <p:nvPr/>
        </p:nvPicPr>
        <p:blipFill>
          <a:blip r:embed="rId3"/>
          <a:stretch>
            <a:fillRect/>
          </a:stretch>
        </p:blipFill>
        <p:spPr>
          <a:xfrm>
            <a:off x="832104" y="4818888"/>
            <a:ext cx="6400800" cy="2523744"/>
          </a:xfrm>
          <a:prstGeom prst="rect">
            <a:avLst/>
          </a:prstGeom>
        </p:spPr>
      </p:pic>
      <p:pic>
        <p:nvPicPr>
          <p:cNvPr id="5" name="Image 3" descr="preencoded.png">    </p:cNvPr>
          <p:cNvPicPr>
            <a:picLocks noChangeAspect="1"/>
          </p:cNvPicPr>
          <p:nvPr/>
        </p:nvPicPr>
        <p:blipFill>
          <a:blip r:embed="rId4"/>
          <a:stretch>
            <a:fillRect/>
          </a:stretch>
        </p:blipFill>
        <p:spPr>
          <a:xfrm>
            <a:off x="7415784" y="1709928"/>
            <a:ext cx="6400800" cy="2926080"/>
          </a:xfrm>
          <a:prstGeom prst="rect">
            <a:avLst/>
          </a:prstGeom>
        </p:spPr>
      </p:pic>
      <p:pic>
        <p:nvPicPr>
          <p:cNvPr id="6" name="Image 4" descr="preencoded.png">    </p:cNvPr>
          <p:cNvPicPr>
            <a:picLocks noChangeAspect="1"/>
          </p:cNvPicPr>
          <p:nvPr/>
        </p:nvPicPr>
        <p:blipFill>
          <a:blip r:embed="rId5"/>
          <a:stretch>
            <a:fillRect/>
          </a:stretch>
        </p:blipFill>
        <p:spPr>
          <a:xfrm>
            <a:off x="7415784" y="4818888"/>
            <a:ext cx="6400800" cy="2523744"/>
          </a:xfrm>
          <a:prstGeom prst="rect">
            <a:avLst/>
          </a:prstGeom>
        </p:spPr>
      </p:pic>
      <p:pic>
        <p:nvPicPr>
          <p:cNvPr id="7" name="Image 5" descr="preencoded.png">    </p:cNvPr>
          <p:cNvPicPr>
            <a:picLocks noChangeAspect="1"/>
          </p:cNvPicPr>
          <p:nvPr/>
        </p:nvPicPr>
        <p:blipFill>
          <a:blip r:embed="rId6"/>
          <a:stretch>
            <a:fillRect/>
          </a:stretch>
        </p:blipFill>
        <p:spPr>
          <a:xfrm>
            <a:off x="1051560" y="2496312"/>
            <a:ext cx="5961888" cy="1920240"/>
          </a:xfrm>
          <a:prstGeom prst="rect">
            <a:avLst/>
          </a:prstGeom>
        </p:spPr>
      </p:pic>
      <p:pic>
        <p:nvPicPr>
          <p:cNvPr id="8" name="Image 6" descr="preencoded.png">    </p:cNvPr>
          <p:cNvPicPr>
            <a:picLocks noChangeAspect="1"/>
          </p:cNvPicPr>
          <p:nvPr/>
        </p:nvPicPr>
        <p:blipFill>
          <a:blip r:embed="rId7"/>
          <a:stretch>
            <a:fillRect/>
          </a:stretch>
        </p:blipFill>
        <p:spPr>
          <a:xfrm>
            <a:off x="1051560" y="5605272"/>
            <a:ext cx="5961888" cy="1517904"/>
          </a:xfrm>
          <a:prstGeom prst="rect">
            <a:avLst/>
          </a:prstGeom>
        </p:spPr>
      </p:pic>
      <p:pic>
        <p:nvPicPr>
          <p:cNvPr id="9" name="Image 7" descr="preencoded.png">    </p:cNvPr>
          <p:cNvPicPr>
            <a:picLocks noChangeAspect="1"/>
          </p:cNvPicPr>
          <p:nvPr/>
        </p:nvPicPr>
        <p:blipFill>
          <a:blip r:embed="rId8"/>
          <a:stretch>
            <a:fillRect/>
          </a:stretch>
        </p:blipFill>
        <p:spPr>
          <a:xfrm>
            <a:off x="7635240" y="2496312"/>
            <a:ext cx="5961888" cy="1920240"/>
          </a:xfrm>
          <a:prstGeom prst="rect">
            <a:avLst/>
          </a:prstGeom>
        </p:spPr>
      </p:pic>
      <p:pic>
        <p:nvPicPr>
          <p:cNvPr id="10" name="Image 8" descr="preencoded.png">    </p:cNvPr>
          <p:cNvPicPr>
            <a:picLocks noChangeAspect="1"/>
          </p:cNvPicPr>
          <p:nvPr/>
        </p:nvPicPr>
        <p:blipFill>
          <a:blip r:embed="rId9"/>
          <a:stretch>
            <a:fillRect/>
          </a:stretch>
        </p:blipFill>
        <p:spPr>
          <a:xfrm>
            <a:off x="7635240" y="5605272"/>
            <a:ext cx="5961888" cy="1517904"/>
          </a:xfrm>
          <a:prstGeom prst="rect">
            <a:avLst/>
          </a:prstGeom>
        </p:spPr>
      </p:pic>
      <p:pic>
        <p:nvPicPr>
          <p:cNvPr id="11" name="Image 9" descr="preencoded.png">    </p:cNvPr>
          <p:cNvPicPr>
            <a:picLocks noChangeAspect="1"/>
          </p:cNvPicPr>
          <p:nvPr/>
        </p:nvPicPr>
        <p:blipFill>
          <a:blip r:embed="rId10"/>
          <a:stretch>
            <a:fillRect/>
          </a:stretch>
        </p:blipFill>
        <p:spPr>
          <a:xfrm>
            <a:off x="1033272" y="1911096"/>
            <a:ext cx="411480" cy="411480"/>
          </a:xfrm>
          <a:prstGeom prst="rect">
            <a:avLst/>
          </a:prstGeom>
        </p:spPr>
      </p:pic>
      <p:pic>
        <p:nvPicPr>
          <p:cNvPr id="12" name="Image 10" descr="preencoded.png">    </p:cNvPr>
          <p:cNvPicPr>
            <a:picLocks noChangeAspect="1"/>
          </p:cNvPicPr>
          <p:nvPr/>
        </p:nvPicPr>
        <p:blipFill>
          <a:blip r:embed="rId11"/>
          <a:stretch>
            <a:fillRect/>
          </a:stretch>
        </p:blipFill>
        <p:spPr>
          <a:xfrm>
            <a:off x="1033272" y="5020056"/>
            <a:ext cx="411480" cy="411480"/>
          </a:xfrm>
          <a:prstGeom prst="rect">
            <a:avLst/>
          </a:prstGeom>
        </p:spPr>
      </p:pic>
      <p:pic>
        <p:nvPicPr>
          <p:cNvPr id="13" name="Image 11" descr="preencoded.png">    </p:cNvPr>
          <p:cNvPicPr>
            <a:picLocks noChangeAspect="1"/>
          </p:cNvPicPr>
          <p:nvPr/>
        </p:nvPicPr>
        <p:blipFill>
          <a:blip r:embed="rId12"/>
          <a:stretch>
            <a:fillRect/>
          </a:stretch>
        </p:blipFill>
        <p:spPr>
          <a:xfrm>
            <a:off x="7616952" y="1911096"/>
            <a:ext cx="411480" cy="411480"/>
          </a:xfrm>
          <a:prstGeom prst="rect">
            <a:avLst/>
          </a:prstGeom>
        </p:spPr>
      </p:pic>
      <p:pic>
        <p:nvPicPr>
          <p:cNvPr id="14" name="Image 12" descr="preencoded.png">    </p:cNvPr>
          <p:cNvPicPr>
            <a:picLocks noChangeAspect="1"/>
          </p:cNvPicPr>
          <p:nvPr/>
        </p:nvPicPr>
        <p:blipFill>
          <a:blip r:embed="rId13"/>
          <a:stretch>
            <a:fillRect/>
          </a:stretch>
        </p:blipFill>
        <p:spPr>
          <a:xfrm>
            <a:off x="7616952" y="5020056"/>
            <a:ext cx="411480" cy="411480"/>
          </a:xfrm>
          <a:prstGeom prst="rect">
            <a:avLst/>
          </a:prstGeom>
        </p:spPr>
      </p:pic>
      <p:sp>
        <p:nvSpPr>
          <p:cNvPr id="15" name="Text 0"/>
          <p:cNvSpPr/>
          <p:nvPr/>
        </p:nvSpPr>
        <p:spPr>
          <a:xfrm>
            <a:off x="832104" y="905256"/>
            <a:ext cx="12984480" cy="594360"/>
          </a:xfrm>
          <a:prstGeom prst="rect">
            <a:avLst/>
          </a:prstGeom>
          <a:noFill/>
          <a:ln/>
        </p:spPr>
        <p:txBody>
          <a:bodyPr wrap="non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Tables Description</a:t>
            </a:r>
            <a:endParaRPr lang="en-US" sz="3710" dirty="0"/>
          </a:p>
        </p:txBody>
      </p:sp>
      <p:sp>
        <p:nvSpPr>
          <p:cNvPr id="16" name="Text 1"/>
          <p:cNvSpPr/>
          <p:nvPr/>
        </p:nvSpPr>
        <p:spPr>
          <a:xfrm>
            <a:off x="1188720" y="1956816"/>
            <a:ext cx="109728"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1</a:t>
            </a:r>
            <a:endParaRPr lang="en-US" sz="1850" dirty="0"/>
          </a:p>
        </p:txBody>
      </p:sp>
      <p:sp>
        <p:nvSpPr>
          <p:cNvPr id="17" name="Text 2"/>
          <p:cNvSpPr/>
          <p:nvPr/>
        </p:nvSpPr>
        <p:spPr>
          <a:xfrm>
            <a:off x="1051560" y="2496312"/>
            <a:ext cx="5961888"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Sales Table</a:t>
            </a:r>
            <a:endParaRPr lang="en-US" sz="1850" dirty="0"/>
          </a:p>
        </p:txBody>
      </p:sp>
      <p:sp>
        <p:nvSpPr>
          <p:cNvPr id="18" name="Text 3"/>
          <p:cNvSpPr/>
          <p:nvPr/>
        </p:nvSpPr>
        <p:spPr>
          <a:xfrm>
            <a:off x="1051560" y="2962656"/>
            <a:ext cx="5961888"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The core of the dataset — contains every sales transaction.</a:t>
            </a:r>
            <a:endParaRPr lang="en-US" sz="1480" dirty="0"/>
          </a:p>
        </p:txBody>
      </p:sp>
      <p:sp>
        <p:nvSpPr>
          <p:cNvPr id="19" name="Text 4"/>
          <p:cNvSpPr/>
          <p:nvPr/>
        </p:nvSpPr>
        <p:spPr>
          <a:xfrm>
            <a:off x="1051560" y="3364992"/>
            <a:ext cx="5961888"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Includes sales amount, cost, quantity, and date.</a:t>
            </a:r>
            <a:endParaRPr lang="en-US" sz="1480" dirty="0"/>
          </a:p>
        </p:txBody>
      </p:sp>
      <p:sp>
        <p:nvSpPr>
          <p:cNvPr id="20" name="Text 5"/>
          <p:cNvSpPr/>
          <p:nvPr/>
        </p:nvSpPr>
        <p:spPr>
          <a:xfrm>
            <a:off x="1051560" y="3767328"/>
            <a:ext cx="5961888"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Connects all other tables together.</a:t>
            </a:r>
            <a:endParaRPr lang="en-US" sz="1480" dirty="0"/>
          </a:p>
        </p:txBody>
      </p:sp>
      <p:sp>
        <p:nvSpPr>
          <p:cNvPr id="21" name="Text 6"/>
          <p:cNvSpPr/>
          <p:nvPr/>
        </p:nvSpPr>
        <p:spPr>
          <a:xfrm>
            <a:off x="1051560" y="4178808"/>
            <a:ext cx="5961888"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Used to track actual business performance and trends.</a:t>
            </a:r>
            <a:endParaRPr lang="en-US" sz="1480" dirty="0"/>
          </a:p>
        </p:txBody>
      </p:sp>
      <p:sp>
        <p:nvSpPr>
          <p:cNvPr id="22" name="Text 7"/>
          <p:cNvSpPr/>
          <p:nvPr/>
        </p:nvSpPr>
        <p:spPr>
          <a:xfrm>
            <a:off x="1161288" y="5065776"/>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3</a:t>
            </a:r>
            <a:endParaRPr lang="en-US" sz="1850" dirty="0"/>
          </a:p>
        </p:txBody>
      </p:sp>
      <p:sp>
        <p:nvSpPr>
          <p:cNvPr id="23" name="Text 8"/>
          <p:cNvSpPr/>
          <p:nvPr/>
        </p:nvSpPr>
        <p:spPr>
          <a:xfrm>
            <a:off x="1051560" y="5605272"/>
            <a:ext cx="5961888"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 Reseller Table</a:t>
            </a:r>
            <a:endParaRPr lang="en-US" sz="1850" dirty="0"/>
          </a:p>
        </p:txBody>
      </p:sp>
      <p:sp>
        <p:nvSpPr>
          <p:cNvPr id="24" name="Text 9"/>
          <p:cNvSpPr/>
          <p:nvPr/>
        </p:nvSpPr>
        <p:spPr>
          <a:xfrm>
            <a:off x="1051560" y="6071616"/>
            <a:ext cx="5961888"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Represents the business partners and channels used for sales.</a:t>
            </a:r>
            <a:endParaRPr lang="en-US" sz="1480" dirty="0"/>
          </a:p>
        </p:txBody>
      </p:sp>
      <p:sp>
        <p:nvSpPr>
          <p:cNvPr id="25" name="Text 10"/>
          <p:cNvSpPr/>
          <p:nvPr/>
        </p:nvSpPr>
        <p:spPr>
          <a:xfrm>
            <a:off x="1051560" y="6473952"/>
            <a:ext cx="5961888"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Contains types of resellers (e.g., Specialty, Warehouse, VAR).</a:t>
            </a:r>
            <a:endParaRPr lang="en-US" sz="1480" dirty="0"/>
          </a:p>
        </p:txBody>
      </p:sp>
      <p:sp>
        <p:nvSpPr>
          <p:cNvPr id="26" name="Text 11"/>
          <p:cNvSpPr/>
          <p:nvPr/>
        </p:nvSpPr>
        <p:spPr>
          <a:xfrm>
            <a:off x="1051560" y="6876288"/>
            <a:ext cx="5961888"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Used for channel effectiveness and distribution analysis.</a:t>
            </a:r>
            <a:endParaRPr lang="en-US" sz="1480" dirty="0"/>
          </a:p>
        </p:txBody>
      </p:sp>
      <p:sp>
        <p:nvSpPr>
          <p:cNvPr id="27" name="Text 12"/>
          <p:cNvSpPr/>
          <p:nvPr/>
        </p:nvSpPr>
        <p:spPr>
          <a:xfrm>
            <a:off x="7754112" y="1956816"/>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2</a:t>
            </a:r>
            <a:endParaRPr lang="en-US" sz="1850" dirty="0"/>
          </a:p>
        </p:txBody>
      </p:sp>
      <p:sp>
        <p:nvSpPr>
          <p:cNvPr id="28" name="Text 13"/>
          <p:cNvSpPr/>
          <p:nvPr/>
        </p:nvSpPr>
        <p:spPr>
          <a:xfrm>
            <a:off x="7635240" y="2496312"/>
            <a:ext cx="5961888"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Region Table</a:t>
            </a:r>
            <a:endParaRPr lang="en-US" sz="1850" dirty="0"/>
          </a:p>
        </p:txBody>
      </p:sp>
      <p:sp>
        <p:nvSpPr>
          <p:cNvPr id="29" name="Text 14"/>
          <p:cNvSpPr/>
          <p:nvPr/>
        </p:nvSpPr>
        <p:spPr>
          <a:xfrm>
            <a:off x="7635240" y="2962656"/>
            <a:ext cx="5961888"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Defines the geographic areas of operation.</a:t>
            </a:r>
            <a:endParaRPr lang="en-US" sz="1480" dirty="0"/>
          </a:p>
        </p:txBody>
      </p:sp>
      <p:sp>
        <p:nvSpPr>
          <p:cNvPr id="30" name="Text 15"/>
          <p:cNvSpPr/>
          <p:nvPr/>
        </p:nvSpPr>
        <p:spPr>
          <a:xfrm>
            <a:off x="7635240" y="3364992"/>
            <a:ext cx="5961888"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Includes country, city, and region names.</a:t>
            </a:r>
            <a:endParaRPr lang="en-US" sz="1480" dirty="0"/>
          </a:p>
        </p:txBody>
      </p:sp>
      <p:sp>
        <p:nvSpPr>
          <p:cNvPr id="31" name="Text 16"/>
          <p:cNvSpPr/>
          <p:nvPr/>
        </p:nvSpPr>
        <p:spPr>
          <a:xfrm>
            <a:off x="7635240" y="3767328"/>
            <a:ext cx="5961888" cy="475488"/>
          </a:xfrm>
          <a:prstGeom prst="rect">
            <a:avLst/>
          </a:prstGeom>
          <a:noFill/>
          <a:ln/>
        </p:spPr>
        <p:txBody>
          <a:bodyPr wrap="squar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Used to analyze regional performance and market penetration.</a:t>
            </a:r>
            <a:endParaRPr lang="en-US" sz="1480" dirty="0"/>
          </a:p>
        </p:txBody>
      </p:sp>
      <p:sp>
        <p:nvSpPr>
          <p:cNvPr id="32" name="Text 17"/>
          <p:cNvSpPr/>
          <p:nvPr/>
        </p:nvSpPr>
        <p:spPr>
          <a:xfrm>
            <a:off x="7744968" y="5065776"/>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4</a:t>
            </a:r>
            <a:endParaRPr lang="en-US" sz="1850" dirty="0"/>
          </a:p>
        </p:txBody>
      </p:sp>
      <p:sp>
        <p:nvSpPr>
          <p:cNvPr id="33" name="Text 18"/>
          <p:cNvSpPr/>
          <p:nvPr/>
        </p:nvSpPr>
        <p:spPr>
          <a:xfrm>
            <a:off x="7635240" y="5605272"/>
            <a:ext cx="5961888"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Product Table</a:t>
            </a:r>
            <a:endParaRPr lang="en-US" sz="1850" dirty="0"/>
          </a:p>
        </p:txBody>
      </p:sp>
      <p:sp>
        <p:nvSpPr>
          <p:cNvPr id="34" name="Text 19"/>
          <p:cNvSpPr/>
          <p:nvPr/>
        </p:nvSpPr>
        <p:spPr>
          <a:xfrm>
            <a:off x="7635240" y="6071616"/>
            <a:ext cx="5961888"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Details of all products sold by the company.</a:t>
            </a:r>
            <a:endParaRPr lang="en-US" sz="1480" dirty="0"/>
          </a:p>
        </p:txBody>
      </p:sp>
      <p:sp>
        <p:nvSpPr>
          <p:cNvPr id="35" name="Text 20"/>
          <p:cNvSpPr/>
          <p:nvPr/>
        </p:nvSpPr>
        <p:spPr>
          <a:xfrm>
            <a:off x="7635240" y="6473952"/>
            <a:ext cx="5961888"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Includes product name, category, cost, and price.</a:t>
            </a:r>
            <a:endParaRPr lang="en-US" sz="1480" dirty="0"/>
          </a:p>
        </p:txBody>
      </p:sp>
      <p:sp>
        <p:nvSpPr>
          <p:cNvPr id="36" name="Text 21"/>
          <p:cNvSpPr/>
          <p:nvPr/>
        </p:nvSpPr>
        <p:spPr>
          <a:xfrm>
            <a:off x="7635240" y="6876288"/>
            <a:ext cx="5961888"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Used for profitability and performance analysis.</a:t>
            </a:r>
            <a:endParaRPr lang="en-US" sz="14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832104" y="1554480"/>
            <a:ext cx="6400800" cy="2752344"/>
          </a:xfrm>
          <a:prstGeom prst="rect">
            <a:avLst/>
          </a:prstGeom>
        </p:spPr>
      </p:pic>
      <p:pic>
        <p:nvPicPr>
          <p:cNvPr id="4" name="Image 2" descr="preencoded.png">    </p:cNvPr>
          <p:cNvPicPr>
            <a:picLocks noChangeAspect="1"/>
          </p:cNvPicPr>
          <p:nvPr/>
        </p:nvPicPr>
        <p:blipFill>
          <a:blip r:embed="rId3"/>
          <a:stretch>
            <a:fillRect/>
          </a:stretch>
        </p:blipFill>
        <p:spPr>
          <a:xfrm>
            <a:off x="832104" y="4498848"/>
            <a:ext cx="6400800" cy="2990088"/>
          </a:xfrm>
          <a:prstGeom prst="rect">
            <a:avLst/>
          </a:prstGeom>
        </p:spPr>
      </p:pic>
      <p:pic>
        <p:nvPicPr>
          <p:cNvPr id="5" name="Image 3" descr="preencoded.png">    </p:cNvPr>
          <p:cNvPicPr>
            <a:picLocks noChangeAspect="1"/>
          </p:cNvPicPr>
          <p:nvPr/>
        </p:nvPicPr>
        <p:blipFill>
          <a:blip r:embed="rId4"/>
          <a:stretch>
            <a:fillRect/>
          </a:stretch>
        </p:blipFill>
        <p:spPr>
          <a:xfrm>
            <a:off x="7415784" y="1554480"/>
            <a:ext cx="6400800" cy="2752344"/>
          </a:xfrm>
          <a:prstGeom prst="rect">
            <a:avLst/>
          </a:prstGeom>
        </p:spPr>
      </p:pic>
      <p:pic>
        <p:nvPicPr>
          <p:cNvPr id="6" name="Image 4" descr="preencoded.png">    </p:cNvPr>
          <p:cNvPicPr>
            <a:picLocks noChangeAspect="1"/>
          </p:cNvPicPr>
          <p:nvPr/>
        </p:nvPicPr>
        <p:blipFill>
          <a:blip r:embed="rId5"/>
          <a:stretch>
            <a:fillRect/>
          </a:stretch>
        </p:blipFill>
        <p:spPr>
          <a:xfrm>
            <a:off x="1051560" y="2340864"/>
            <a:ext cx="5961888" cy="1755648"/>
          </a:xfrm>
          <a:prstGeom prst="rect">
            <a:avLst/>
          </a:prstGeom>
        </p:spPr>
      </p:pic>
      <p:pic>
        <p:nvPicPr>
          <p:cNvPr id="7" name="Image 5" descr="preencoded.png">    </p:cNvPr>
          <p:cNvPicPr>
            <a:picLocks noChangeAspect="1"/>
          </p:cNvPicPr>
          <p:nvPr/>
        </p:nvPicPr>
        <p:blipFill>
          <a:blip r:embed="rId6"/>
          <a:stretch>
            <a:fillRect/>
          </a:stretch>
        </p:blipFill>
        <p:spPr>
          <a:xfrm>
            <a:off x="1051560" y="5285232"/>
            <a:ext cx="5961888" cy="1984248"/>
          </a:xfrm>
          <a:prstGeom prst="rect">
            <a:avLst/>
          </a:prstGeom>
        </p:spPr>
      </p:pic>
      <p:pic>
        <p:nvPicPr>
          <p:cNvPr id="8" name="Image 6" descr="preencoded.png">    </p:cNvPr>
          <p:cNvPicPr>
            <a:picLocks noChangeAspect="1"/>
          </p:cNvPicPr>
          <p:nvPr/>
        </p:nvPicPr>
        <p:blipFill>
          <a:blip r:embed="rId7"/>
          <a:stretch>
            <a:fillRect/>
          </a:stretch>
        </p:blipFill>
        <p:spPr>
          <a:xfrm>
            <a:off x="7635240" y="2340864"/>
            <a:ext cx="5961888" cy="1755648"/>
          </a:xfrm>
          <a:prstGeom prst="rect">
            <a:avLst/>
          </a:prstGeom>
        </p:spPr>
      </p:pic>
      <p:pic>
        <p:nvPicPr>
          <p:cNvPr id="9" name="Image 7" descr="preencoded.png">    </p:cNvPr>
          <p:cNvPicPr>
            <a:picLocks noChangeAspect="1"/>
          </p:cNvPicPr>
          <p:nvPr/>
        </p:nvPicPr>
        <p:blipFill>
          <a:blip r:embed="rId8"/>
          <a:stretch>
            <a:fillRect/>
          </a:stretch>
        </p:blipFill>
        <p:spPr>
          <a:xfrm>
            <a:off x="1033272" y="1764792"/>
            <a:ext cx="411480" cy="411480"/>
          </a:xfrm>
          <a:prstGeom prst="rect">
            <a:avLst/>
          </a:prstGeom>
        </p:spPr>
      </p:pic>
      <p:pic>
        <p:nvPicPr>
          <p:cNvPr id="10" name="Image 8" descr="preencoded.png">    </p:cNvPr>
          <p:cNvPicPr>
            <a:picLocks noChangeAspect="1"/>
          </p:cNvPicPr>
          <p:nvPr/>
        </p:nvPicPr>
        <p:blipFill>
          <a:blip r:embed="rId9"/>
          <a:stretch>
            <a:fillRect/>
          </a:stretch>
        </p:blipFill>
        <p:spPr>
          <a:xfrm>
            <a:off x="1033272" y="4700016"/>
            <a:ext cx="411480" cy="411480"/>
          </a:xfrm>
          <a:prstGeom prst="rect">
            <a:avLst/>
          </a:prstGeom>
        </p:spPr>
      </p:pic>
      <p:pic>
        <p:nvPicPr>
          <p:cNvPr id="11" name="Image 9" descr="preencoded.png">    </p:cNvPr>
          <p:cNvPicPr>
            <a:picLocks noChangeAspect="1"/>
          </p:cNvPicPr>
          <p:nvPr/>
        </p:nvPicPr>
        <p:blipFill>
          <a:blip r:embed="rId10"/>
          <a:stretch>
            <a:fillRect/>
          </a:stretch>
        </p:blipFill>
        <p:spPr>
          <a:xfrm>
            <a:off x="7616952" y="1764792"/>
            <a:ext cx="411480" cy="411480"/>
          </a:xfrm>
          <a:prstGeom prst="rect">
            <a:avLst/>
          </a:prstGeom>
        </p:spPr>
      </p:pic>
      <p:sp>
        <p:nvSpPr>
          <p:cNvPr id="12" name="Text 0"/>
          <p:cNvSpPr/>
          <p:nvPr/>
        </p:nvSpPr>
        <p:spPr>
          <a:xfrm>
            <a:off x="832104" y="758952"/>
            <a:ext cx="12984480" cy="594360"/>
          </a:xfrm>
          <a:prstGeom prst="rect">
            <a:avLst/>
          </a:prstGeom>
          <a:noFill/>
          <a:ln/>
        </p:spPr>
        <p:txBody>
          <a:bodyPr wrap="non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Tables Description</a:t>
            </a:r>
            <a:endParaRPr lang="en-US" sz="3710" dirty="0"/>
          </a:p>
        </p:txBody>
      </p:sp>
      <p:pic>
        <p:nvPicPr>
          <p:cNvPr id="13" name="Image 10" descr="preencoded.png">    </p:cNvPr>
          <p:cNvPicPr>
            <a:picLocks noChangeAspect="1"/>
          </p:cNvPicPr>
          <p:nvPr/>
        </p:nvPicPr>
        <p:blipFill>
          <a:blip r:embed="rId11"/>
          <a:stretch>
            <a:fillRect/>
          </a:stretch>
        </p:blipFill>
        <p:spPr>
          <a:xfrm>
            <a:off x="1170432" y="1847088"/>
            <a:ext cx="146304" cy="237744"/>
          </a:xfrm>
          <a:prstGeom prst="rect">
            <a:avLst/>
          </a:prstGeom>
        </p:spPr>
      </p:pic>
      <p:sp>
        <p:nvSpPr>
          <p:cNvPr id="14" name="Text 1"/>
          <p:cNvSpPr/>
          <p:nvPr/>
        </p:nvSpPr>
        <p:spPr>
          <a:xfrm>
            <a:off x="1051560" y="2340864"/>
            <a:ext cx="5961888"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Salesperson Table</a:t>
            </a:r>
            <a:endParaRPr lang="en-US" sz="1850" dirty="0"/>
          </a:p>
        </p:txBody>
      </p:sp>
      <p:sp>
        <p:nvSpPr>
          <p:cNvPr id="15" name="Text 2"/>
          <p:cNvSpPr/>
          <p:nvPr/>
        </p:nvSpPr>
        <p:spPr>
          <a:xfrm>
            <a:off x="1051560" y="2807208"/>
            <a:ext cx="5961888"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Information about sales team members and their performance.</a:t>
            </a:r>
            <a:endParaRPr lang="en-US" sz="1480" dirty="0"/>
          </a:p>
        </p:txBody>
      </p:sp>
      <p:sp>
        <p:nvSpPr>
          <p:cNvPr id="16" name="Text 3"/>
          <p:cNvSpPr/>
          <p:nvPr/>
        </p:nvSpPr>
        <p:spPr>
          <a:xfrm>
            <a:off x="1051560" y="3209544"/>
            <a:ext cx="5961888"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Contains salesperson names, positions, and IDs.</a:t>
            </a:r>
            <a:endParaRPr lang="en-US" sz="1480" dirty="0"/>
          </a:p>
        </p:txBody>
      </p:sp>
      <p:sp>
        <p:nvSpPr>
          <p:cNvPr id="17" name="Text 4"/>
          <p:cNvSpPr/>
          <p:nvPr/>
        </p:nvSpPr>
        <p:spPr>
          <a:xfrm>
            <a:off x="1051560" y="3621024"/>
            <a:ext cx="5961888" cy="475488"/>
          </a:xfrm>
          <a:prstGeom prst="rect">
            <a:avLst/>
          </a:prstGeom>
          <a:noFill/>
          <a:ln/>
        </p:spPr>
        <p:txBody>
          <a:bodyPr wrap="squar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Supports individual performance tracking and target achievement.</a:t>
            </a:r>
            <a:endParaRPr lang="en-US" sz="1480" dirty="0"/>
          </a:p>
        </p:txBody>
      </p:sp>
      <p:pic>
        <p:nvPicPr>
          <p:cNvPr id="18" name="Image 11" descr="preencoded.png">    </p:cNvPr>
          <p:cNvPicPr>
            <a:picLocks noChangeAspect="1"/>
          </p:cNvPicPr>
          <p:nvPr/>
        </p:nvPicPr>
        <p:blipFill>
          <a:blip r:embed="rId12"/>
          <a:stretch>
            <a:fillRect/>
          </a:stretch>
        </p:blipFill>
        <p:spPr>
          <a:xfrm>
            <a:off x="1170432" y="4791456"/>
            <a:ext cx="146304" cy="237744"/>
          </a:xfrm>
          <a:prstGeom prst="rect">
            <a:avLst/>
          </a:prstGeom>
        </p:spPr>
      </p:pic>
      <p:sp>
        <p:nvSpPr>
          <p:cNvPr id="19" name="Text 5"/>
          <p:cNvSpPr/>
          <p:nvPr/>
        </p:nvSpPr>
        <p:spPr>
          <a:xfrm>
            <a:off x="1051560" y="5285232"/>
            <a:ext cx="5961888"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Targets Table</a:t>
            </a:r>
            <a:endParaRPr lang="en-US" sz="1850" dirty="0"/>
          </a:p>
        </p:txBody>
      </p:sp>
      <p:sp>
        <p:nvSpPr>
          <p:cNvPr id="20" name="Text 6"/>
          <p:cNvSpPr/>
          <p:nvPr/>
        </p:nvSpPr>
        <p:spPr>
          <a:xfrm>
            <a:off x="1051560" y="5751576"/>
            <a:ext cx="5961888"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Stores the company’s performance goals.</a:t>
            </a:r>
            <a:endParaRPr lang="en-US" sz="1480" dirty="0"/>
          </a:p>
        </p:txBody>
      </p:sp>
      <p:sp>
        <p:nvSpPr>
          <p:cNvPr id="21" name="Text 7"/>
          <p:cNvSpPr/>
          <p:nvPr/>
        </p:nvSpPr>
        <p:spPr>
          <a:xfrm>
            <a:off x="1051560" y="6153912"/>
            <a:ext cx="5961888" cy="475488"/>
          </a:xfrm>
          <a:prstGeom prst="rect">
            <a:avLst/>
          </a:prstGeom>
          <a:noFill/>
          <a:ln/>
        </p:spPr>
        <p:txBody>
          <a:bodyPr wrap="squar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Contains monthly or yearly sales targets for each salesperson.</a:t>
            </a:r>
            <a:endParaRPr lang="en-US" sz="1480" dirty="0"/>
          </a:p>
        </p:txBody>
      </p:sp>
      <p:sp>
        <p:nvSpPr>
          <p:cNvPr id="22" name="Text 8"/>
          <p:cNvSpPr/>
          <p:nvPr/>
        </p:nvSpPr>
        <p:spPr>
          <a:xfrm>
            <a:off x="1051560" y="6793992"/>
            <a:ext cx="5961888" cy="475488"/>
          </a:xfrm>
          <a:prstGeom prst="rect">
            <a:avLst/>
          </a:prstGeom>
          <a:noFill/>
          <a:ln/>
        </p:spPr>
        <p:txBody>
          <a:bodyPr wrap="squar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Helps measure achievement vs. target and forecast performance.</a:t>
            </a:r>
            <a:endParaRPr lang="en-US" sz="1480" dirty="0"/>
          </a:p>
        </p:txBody>
      </p:sp>
      <p:pic>
        <p:nvPicPr>
          <p:cNvPr id="23" name="Image 12" descr="preencoded.png">    </p:cNvPr>
          <p:cNvPicPr>
            <a:picLocks noChangeAspect="1"/>
          </p:cNvPicPr>
          <p:nvPr/>
        </p:nvPicPr>
        <p:blipFill>
          <a:blip r:embed="rId13"/>
          <a:stretch>
            <a:fillRect/>
          </a:stretch>
        </p:blipFill>
        <p:spPr>
          <a:xfrm>
            <a:off x="7754112" y="1847088"/>
            <a:ext cx="146304" cy="237744"/>
          </a:xfrm>
          <a:prstGeom prst="rect">
            <a:avLst/>
          </a:prstGeom>
        </p:spPr>
      </p:pic>
      <p:sp>
        <p:nvSpPr>
          <p:cNvPr id="24" name="Text 9"/>
          <p:cNvSpPr/>
          <p:nvPr/>
        </p:nvSpPr>
        <p:spPr>
          <a:xfrm>
            <a:off x="7635240" y="2340864"/>
            <a:ext cx="5961888"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SalespersonRegion Table</a:t>
            </a:r>
            <a:endParaRPr lang="en-US" sz="1850" dirty="0"/>
          </a:p>
        </p:txBody>
      </p:sp>
      <p:sp>
        <p:nvSpPr>
          <p:cNvPr id="25" name="Text 10"/>
          <p:cNvSpPr/>
          <p:nvPr/>
        </p:nvSpPr>
        <p:spPr>
          <a:xfrm>
            <a:off x="7635240" y="2807208"/>
            <a:ext cx="5961888"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A linking table between Salesperson and Region.</a:t>
            </a:r>
            <a:endParaRPr lang="en-US" sz="1480" dirty="0"/>
          </a:p>
        </p:txBody>
      </p:sp>
      <p:sp>
        <p:nvSpPr>
          <p:cNvPr id="26" name="Text 11"/>
          <p:cNvSpPr/>
          <p:nvPr/>
        </p:nvSpPr>
        <p:spPr>
          <a:xfrm>
            <a:off x="7635240" y="3209544"/>
            <a:ext cx="5961888"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Defines which salesperson covers which region.</a:t>
            </a:r>
            <a:endParaRPr lang="en-US" sz="1480" dirty="0"/>
          </a:p>
        </p:txBody>
      </p:sp>
      <p:sp>
        <p:nvSpPr>
          <p:cNvPr id="27" name="Text 12"/>
          <p:cNvSpPr/>
          <p:nvPr/>
        </p:nvSpPr>
        <p:spPr>
          <a:xfrm>
            <a:off x="7635240" y="3621024"/>
            <a:ext cx="5961888" cy="475488"/>
          </a:xfrm>
          <a:prstGeom prst="rect">
            <a:avLst/>
          </a:prstGeom>
          <a:noFill/>
          <a:ln/>
        </p:spPr>
        <p:txBody>
          <a:bodyPr wrap="squar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Helps in territory planning and performance distribution.Stores the company’s performance goals.</a:t>
            </a:r>
            <a:endParaRPr lang="en-US" sz="14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9656064" y="0"/>
            <a:ext cx="4974336" cy="8238744"/>
          </a:xfrm>
          <a:prstGeom prst="rect">
            <a:avLst/>
          </a:prstGeom>
        </p:spPr>
      </p:pic>
      <p:pic>
        <p:nvPicPr>
          <p:cNvPr id="4" name="Image 2" descr="preencoded.png">    </p:cNvPr>
          <p:cNvPicPr>
            <a:picLocks noChangeAspect="1"/>
          </p:cNvPicPr>
          <p:nvPr/>
        </p:nvPicPr>
        <p:blipFill>
          <a:blip r:embed="rId3"/>
          <a:stretch>
            <a:fillRect/>
          </a:stretch>
        </p:blipFill>
        <p:spPr>
          <a:xfrm>
            <a:off x="841248" y="2258568"/>
            <a:ext cx="3886200" cy="2057400"/>
          </a:xfrm>
          <a:prstGeom prst="rect">
            <a:avLst/>
          </a:prstGeom>
        </p:spPr>
      </p:pic>
      <p:pic>
        <p:nvPicPr>
          <p:cNvPr id="5" name="Image 3" descr="preencoded.png">    </p:cNvPr>
          <p:cNvPicPr>
            <a:picLocks noChangeAspect="1"/>
          </p:cNvPicPr>
          <p:nvPr/>
        </p:nvPicPr>
        <p:blipFill>
          <a:blip r:embed="rId4"/>
          <a:stretch>
            <a:fillRect/>
          </a:stretch>
        </p:blipFill>
        <p:spPr>
          <a:xfrm>
            <a:off x="841248" y="4526280"/>
            <a:ext cx="3886200" cy="2057400"/>
          </a:xfrm>
          <a:prstGeom prst="rect">
            <a:avLst/>
          </a:prstGeom>
        </p:spPr>
      </p:pic>
      <p:pic>
        <p:nvPicPr>
          <p:cNvPr id="6" name="Image 4" descr="preencoded.png">    </p:cNvPr>
          <p:cNvPicPr>
            <a:picLocks noChangeAspect="1"/>
          </p:cNvPicPr>
          <p:nvPr/>
        </p:nvPicPr>
        <p:blipFill>
          <a:blip r:embed="rId5"/>
          <a:stretch>
            <a:fillRect/>
          </a:stretch>
        </p:blipFill>
        <p:spPr>
          <a:xfrm>
            <a:off x="4937760" y="2258568"/>
            <a:ext cx="3886200" cy="2057400"/>
          </a:xfrm>
          <a:prstGeom prst="rect">
            <a:avLst/>
          </a:prstGeom>
        </p:spPr>
      </p:pic>
      <p:pic>
        <p:nvPicPr>
          <p:cNvPr id="7" name="Image 5" descr="preencoded.png">    </p:cNvPr>
          <p:cNvPicPr>
            <a:picLocks noChangeAspect="1"/>
          </p:cNvPicPr>
          <p:nvPr/>
        </p:nvPicPr>
        <p:blipFill>
          <a:blip r:embed="rId6"/>
          <a:stretch>
            <a:fillRect/>
          </a:stretch>
        </p:blipFill>
        <p:spPr>
          <a:xfrm>
            <a:off x="4937760" y="4526280"/>
            <a:ext cx="3886200" cy="2057400"/>
          </a:xfrm>
          <a:prstGeom prst="rect">
            <a:avLst/>
          </a:prstGeom>
        </p:spPr>
      </p:pic>
      <p:pic>
        <p:nvPicPr>
          <p:cNvPr id="8" name="Image 6" descr="preencoded.png">    </p:cNvPr>
          <p:cNvPicPr>
            <a:picLocks noChangeAspect="1"/>
          </p:cNvPicPr>
          <p:nvPr/>
        </p:nvPicPr>
        <p:blipFill>
          <a:blip r:embed="rId7"/>
          <a:stretch>
            <a:fillRect/>
          </a:stretch>
        </p:blipFill>
        <p:spPr>
          <a:xfrm>
            <a:off x="832104" y="2569464"/>
            <a:ext cx="3913632" cy="1755648"/>
          </a:xfrm>
          <a:prstGeom prst="rect">
            <a:avLst/>
          </a:prstGeom>
        </p:spPr>
      </p:pic>
      <p:pic>
        <p:nvPicPr>
          <p:cNvPr id="9" name="Image 7" descr="preencoded.png">    </p:cNvPr>
          <p:cNvPicPr>
            <a:picLocks noChangeAspect="1"/>
          </p:cNvPicPr>
          <p:nvPr/>
        </p:nvPicPr>
        <p:blipFill>
          <a:blip r:embed="rId8"/>
          <a:stretch>
            <a:fillRect/>
          </a:stretch>
        </p:blipFill>
        <p:spPr>
          <a:xfrm>
            <a:off x="832104" y="4837176"/>
            <a:ext cx="3913632" cy="1755648"/>
          </a:xfrm>
          <a:prstGeom prst="rect">
            <a:avLst/>
          </a:prstGeom>
        </p:spPr>
      </p:pic>
      <p:pic>
        <p:nvPicPr>
          <p:cNvPr id="10" name="Image 8" descr="preencoded.png">    </p:cNvPr>
          <p:cNvPicPr>
            <a:picLocks noChangeAspect="1"/>
          </p:cNvPicPr>
          <p:nvPr/>
        </p:nvPicPr>
        <p:blipFill>
          <a:blip r:embed="rId9"/>
          <a:stretch>
            <a:fillRect/>
          </a:stretch>
        </p:blipFill>
        <p:spPr>
          <a:xfrm>
            <a:off x="4928616" y="2569464"/>
            <a:ext cx="3913632" cy="1755648"/>
          </a:xfrm>
          <a:prstGeom prst="rect">
            <a:avLst/>
          </a:prstGeom>
        </p:spPr>
      </p:pic>
      <p:pic>
        <p:nvPicPr>
          <p:cNvPr id="11" name="Image 9" descr="preencoded.png">    </p:cNvPr>
          <p:cNvPicPr>
            <a:picLocks noChangeAspect="1"/>
          </p:cNvPicPr>
          <p:nvPr/>
        </p:nvPicPr>
        <p:blipFill>
          <a:blip r:embed="rId10"/>
          <a:stretch>
            <a:fillRect/>
          </a:stretch>
        </p:blipFill>
        <p:spPr>
          <a:xfrm>
            <a:off x="4928616" y="4837176"/>
            <a:ext cx="3913632" cy="1755648"/>
          </a:xfrm>
          <a:prstGeom prst="rect">
            <a:avLst/>
          </a:prstGeom>
        </p:spPr>
      </p:pic>
      <p:pic>
        <p:nvPicPr>
          <p:cNvPr id="12" name="Image 10" descr="preencoded.png">    </p:cNvPr>
          <p:cNvPicPr>
            <a:picLocks noChangeAspect="1"/>
          </p:cNvPicPr>
          <p:nvPr/>
        </p:nvPicPr>
        <p:blipFill>
          <a:blip r:embed="rId11"/>
          <a:stretch>
            <a:fillRect/>
          </a:stretch>
        </p:blipFill>
        <p:spPr>
          <a:xfrm>
            <a:off x="832104" y="2478024"/>
            <a:ext cx="3913632" cy="128016"/>
          </a:xfrm>
          <a:prstGeom prst="rect">
            <a:avLst/>
          </a:prstGeom>
        </p:spPr>
      </p:pic>
      <p:pic>
        <p:nvPicPr>
          <p:cNvPr id="13" name="Image 11" descr="preencoded.png">    </p:cNvPr>
          <p:cNvPicPr>
            <a:picLocks noChangeAspect="1"/>
          </p:cNvPicPr>
          <p:nvPr/>
        </p:nvPicPr>
        <p:blipFill>
          <a:blip r:embed="rId12"/>
          <a:stretch>
            <a:fillRect/>
          </a:stretch>
        </p:blipFill>
        <p:spPr>
          <a:xfrm>
            <a:off x="832104" y="4745736"/>
            <a:ext cx="3913632" cy="128016"/>
          </a:xfrm>
          <a:prstGeom prst="rect">
            <a:avLst/>
          </a:prstGeom>
        </p:spPr>
      </p:pic>
      <p:pic>
        <p:nvPicPr>
          <p:cNvPr id="14" name="Image 12" descr="preencoded.png">    </p:cNvPr>
          <p:cNvPicPr>
            <a:picLocks noChangeAspect="1"/>
          </p:cNvPicPr>
          <p:nvPr/>
        </p:nvPicPr>
        <p:blipFill>
          <a:blip r:embed="rId13"/>
          <a:stretch>
            <a:fillRect/>
          </a:stretch>
        </p:blipFill>
        <p:spPr>
          <a:xfrm>
            <a:off x="4928616" y="2478024"/>
            <a:ext cx="3913632" cy="128016"/>
          </a:xfrm>
          <a:prstGeom prst="rect">
            <a:avLst/>
          </a:prstGeom>
        </p:spPr>
      </p:pic>
      <p:pic>
        <p:nvPicPr>
          <p:cNvPr id="15" name="Image 13" descr="preencoded.png">    </p:cNvPr>
          <p:cNvPicPr>
            <a:picLocks noChangeAspect="1"/>
          </p:cNvPicPr>
          <p:nvPr/>
        </p:nvPicPr>
        <p:blipFill>
          <a:blip r:embed="rId14"/>
          <a:stretch>
            <a:fillRect/>
          </a:stretch>
        </p:blipFill>
        <p:spPr>
          <a:xfrm>
            <a:off x="4928616" y="4745736"/>
            <a:ext cx="3913632" cy="128016"/>
          </a:xfrm>
          <a:prstGeom prst="rect">
            <a:avLst/>
          </a:prstGeom>
        </p:spPr>
      </p:pic>
      <p:pic>
        <p:nvPicPr>
          <p:cNvPr id="16" name="Image 14" descr="preencoded.png">    </p:cNvPr>
          <p:cNvPicPr>
            <a:picLocks noChangeAspect="1"/>
          </p:cNvPicPr>
          <p:nvPr/>
        </p:nvPicPr>
        <p:blipFill>
          <a:blip r:embed="rId15"/>
          <a:stretch>
            <a:fillRect/>
          </a:stretch>
        </p:blipFill>
        <p:spPr>
          <a:xfrm>
            <a:off x="2505456" y="2258568"/>
            <a:ext cx="566928" cy="566928"/>
          </a:xfrm>
          <a:prstGeom prst="rect">
            <a:avLst/>
          </a:prstGeom>
        </p:spPr>
      </p:pic>
      <p:pic>
        <p:nvPicPr>
          <p:cNvPr id="17" name="Image 15" descr="preencoded.png">    </p:cNvPr>
          <p:cNvPicPr>
            <a:picLocks noChangeAspect="1"/>
          </p:cNvPicPr>
          <p:nvPr/>
        </p:nvPicPr>
        <p:blipFill>
          <a:blip r:embed="rId16"/>
          <a:stretch>
            <a:fillRect/>
          </a:stretch>
        </p:blipFill>
        <p:spPr>
          <a:xfrm>
            <a:off x="2505456" y="4526280"/>
            <a:ext cx="566928" cy="566928"/>
          </a:xfrm>
          <a:prstGeom prst="rect">
            <a:avLst/>
          </a:prstGeom>
        </p:spPr>
      </p:pic>
      <p:pic>
        <p:nvPicPr>
          <p:cNvPr id="18" name="Image 16" descr="preencoded.png">    </p:cNvPr>
          <p:cNvPicPr>
            <a:picLocks noChangeAspect="1"/>
          </p:cNvPicPr>
          <p:nvPr/>
        </p:nvPicPr>
        <p:blipFill>
          <a:blip r:embed="rId17"/>
          <a:stretch>
            <a:fillRect/>
          </a:stretch>
        </p:blipFill>
        <p:spPr>
          <a:xfrm>
            <a:off x="6601968" y="2258568"/>
            <a:ext cx="566928" cy="566928"/>
          </a:xfrm>
          <a:prstGeom prst="rect">
            <a:avLst/>
          </a:prstGeom>
        </p:spPr>
      </p:pic>
      <p:pic>
        <p:nvPicPr>
          <p:cNvPr id="19" name="Image 17" descr="preencoded.png">    </p:cNvPr>
          <p:cNvPicPr>
            <a:picLocks noChangeAspect="1"/>
          </p:cNvPicPr>
          <p:nvPr/>
        </p:nvPicPr>
        <p:blipFill>
          <a:blip r:embed="rId18"/>
          <a:stretch>
            <a:fillRect/>
          </a:stretch>
        </p:blipFill>
        <p:spPr>
          <a:xfrm>
            <a:off x="6601968" y="4526280"/>
            <a:ext cx="566928" cy="566928"/>
          </a:xfrm>
          <a:prstGeom prst="rect">
            <a:avLst/>
          </a:prstGeom>
        </p:spPr>
      </p:pic>
      <p:sp>
        <p:nvSpPr>
          <p:cNvPr id="20" name="Text 0"/>
          <p:cNvSpPr/>
          <p:nvPr/>
        </p:nvSpPr>
        <p:spPr>
          <a:xfrm>
            <a:off x="832104" y="1435608"/>
            <a:ext cx="8010144" cy="594360"/>
          </a:xfrm>
          <a:prstGeom prst="rect">
            <a:avLst/>
          </a:prstGeom>
          <a:noFill/>
          <a:ln/>
        </p:spPr>
        <p:txBody>
          <a:bodyPr wrap="non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Tools &amp; Technologies</a:t>
            </a:r>
            <a:endParaRPr lang="en-US" sz="3710" dirty="0"/>
          </a:p>
        </p:txBody>
      </p:sp>
      <p:sp>
        <p:nvSpPr>
          <p:cNvPr id="21" name="Text 1"/>
          <p:cNvSpPr/>
          <p:nvPr/>
        </p:nvSpPr>
        <p:spPr>
          <a:xfrm>
            <a:off x="1051560" y="2980944"/>
            <a:ext cx="3474720"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Power BI</a:t>
            </a:r>
            <a:endParaRPr lang="en-US" sz="1850" dirty="0"/>
          </a:p>
        </p:txBody>
      </p:sp>
      <p:sp>
        <p:nvSpPr>
          <p:cNvPr id="22" name="Text 2"/>
          <p:cNvSpPr/>
          <p:nvPr/>
        </p:nvSpPr>
        <p:spPr>
          <a:xfrm>
            <a:off x="2724912" y="2350008"/>
            <a:ext cx="128016" cy="374904"/>
          </a:xfrm>
          <a:prstGeom prst="rect">
            <a:avLst/>
          </a:prstGeom>
          <a:noFill/>
          <a:ln/>
        </p:spPr>
        <p:txBody>
          <a:bodyPr wrap="none" lIns="0" tIns="0" rIns="0" bIns="0" rtlCol="0" anchor="ctr"/>
          <a:lstStyle/>
          <a:p>
            <a:pPr algn="l" indent="0" marL="0">
              <a:lnSpc>
                <a:spcPts val="2670"/>
              </a:lnSpc>
              <a:buNone/>
            </a:pPr>
            <a:r>
              <a:rPr lang="en-US" sz="2220" dirty="0">
                <a:solidFill>
                  <a:srgbClr val="454545"/>
                </a:solidFill>
                <a:latin typeface="MiSans-MiSans-Regular" pitchFamily="34" charset="0"/>
                <a:ea typeface="MiSans-MiSans-Regular" pitchFamily="34" charset="-122"/>
                <a:cs typeface="MiSans-MiSans-Regular" pitchFamily="34" charset="-120"/>
              </a:rPr>
              <a:t>1</a:t>
            </a:r>
            <a:endParaRPr lang="en-US" sz="2220" dirty="0"/>
          </a:p>
        </p:txBody>
      </p:sp>
      <p:sp>
        <p:nvSpPr>
          <p:cNvPr id="23" name="Text 3"/>
          <p:cNvSpPr/>
          <p:nvPr/>
        </p:nvSpPr>
        <p:spPr>
          <a:xfrm>
            <a:off x="1051560" y="3438144"/>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 Interactive dashboards and visualization</a:t>
            </a:r>
            <a:endParaRPr lang="en-US" sz="1480" dirty="0"/>
          </a:p>
        </p:txBody>
      </p:sp>
      <p:sp>
        <p:nvSpPr>
          <p:cNvPr id="24" name="Text 4"/>
          <p:cNvSpPr/>
          <p:nvPr/>
        </p:nvSpPr>
        <p:spPr>
          <a:xfrm>
            <a:off x="2697480" y="4617720"/>
            <a:ext cx="173736" cy="374904"/>
          </a:xfrm>
          <a:prstGeom prst="rect">
            <a:avLst/>
          </a:prstGeom>
          <a:noFill/>
          <a:ln/>
        </p:spPr>
        <p:txBody>
          <a:bodyPr wrap="none" lIns="0" tIns="0" rIns="0" bIns="0" rtlCol="0" anchor="ctr"/>
          <a:lstStyle/>
          <a:p>
            <a:pPr algn="l" indent="0" marL="0">
              <a:lnSpc>
                <a:spcPts val="2670"/>
              </a:lnSpc>
              <a:buNone/>
            </a:pPr>
            <a:r>
              <a:rPr lang="en-US" sz="2220" dirty="0">
                <a:solidFill>
                  <a:srgbClr val="454545"/>
                </a:solidFill>
                <a:latin typeface="MiSans-MiSans-Regular" pitchFamily="34" charset="0"/>
                <a:ea typeface="MiSans-MiSans-Regular" pitchFamily="34" charset="-122"/>
                <a:cs typeface="MiSans-MiSans-Regular" pitchFamily="34" charset="-120"/>
              </a:rPr>
              <a:t>3</a:t>
            </a:r>
            <a:endParaRPr lang="en-US" sz="2220" dirty="0"/>
          </a:p>
        </p:txBody>
      </p:sp>
      <p:sp>
        <p:nvSpPr>
          <p:cNvPr id="25" name="Text 5"/>
          <p:cNvSpPr/>
          <p:nvPr/>
        </p:nvSpPr>
        <p:spPr>
          <a:xfrm>
            <a:off x="1051560" y="5248656"/>
            <a:ext cx="3474720"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Python</a:t>
            </a:r>
            <a:endParaRPr lang="en-US" sz="1850" dirty="0"/>
          </a:p>
        </p:txBody>
      </p:sp>
      <p:sp>
        <p:nvSpPr>
          <p:cNvPr id="26" name="Text 6"/>
          <p:cNvSpPr/>
          <p:nvPr/>
        </p:nvSpPr>
        <p:spPr>
          <a:xfrm>
            <a:off x="1051560" y="5715000"/>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 Data processing and statistical analysis</a:t>
            </a:r>
            <a:endParaRPr lang="en-US" sz="1480" dirty="0"/>
          </a:p>
        </p:txBody>
      </p:sp>
      <p:sp>
        <p:nvSpPr>
          <p:cNvPr id="27" name="Text 7"/>
          <p:cNvSpPr/>
          <p:nvPr/>
        </p:nvSpPr>
        <p:spPr>
          <a:xfrm>
            <a:off x="5148072" y="2980944"/>
            <a:ext cx="3474720"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SQL</a:t>
            </a:r>
            <a:endParaRPr lang="en-US" sz="1850" dirty="0"/>
          </a:p>
        </p:txBody>
      </p:sp>
      <p:sp>
        <p:nvSpPr>
          <p:cNvPr id="28" name="Text 8"/>
          <p:cNvSpPr/>
          <p:nvPr/>
        </p:nvSpPr>
        <p:spPr>
          <a:xfrm>
            <a:off x="5148072" y="3438144"/>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 Advanced data analysis and querying</a:t>
            </a:r>
            <a:endParaRPr lang="en-US" sz="1480" dirty="0"/>
          </a:p>
        </p:txBody>
      </p:sp>
      <p:sp>
        <p:nvSpPr>
          <p:cNvPr id="29" name="Text 9"/>
          <p:cNvSpPr/>
          <p:nvPr/>
        </p:nvSpPr>
        <p:spPr>
          <a:xfrm>
            <a:off x="6793992" y="2350008"/>
            <a:ext cx="173736" cy="374904"/>
          </a:xfrm>
          <a:prstGeom prst="rect">
            <a:avLst/>
          </a:prstGeom>
          <a:noFill/>
          <a:ln/>
        </p:spPr>
        <p:txBody>
          <a:bodyPr wrap="none" lIns="0" tIns="0" rIns="0" bIns="0" rtlCol="0" anchor="ctr"/>
          <a:lstStyle/>
          <a:p>
            <a:pPr algn="l" indent="0" marL="0">
              <a:lnSpc>
                <a:spcPts val="2670"/>
              </a:lnSpc>
              <a:buNone/>
            </a:pPr>
            <a:r>
              <a:rPr lang="en-US" sz="2220" dirty="0">
                <a:solidFill>
                  <a:srgbClr val="454545"/>
                </a:solidFill>
                <a:latin typeface="MiSans-MiSans-Regular" pitchFamily="34" charset="0"/>
                <a:ea typeface="MiSans-MiSans-Regular" pitchFamily="34" charset="-122"/>
                <a:cs typeface="MiSans-MiSans-Regular" pitchFamily="34" charset="-120"/>
              </a:rPr>
              <a:t>2</a:t>
            </a:r>
            <a:endParaRPr lang="en-US" sz="2220" dirty="0"/>
          </a:p>
        </p:txBody>
      </p:sp>
      <p:sp>
        <p:nvSpPr>
          <p:cNvPr id="30" name="Text 10"/>
          <p:cNvSpPr/>
          <p:nvPr/>
        </p:nvSpPr>
        <p:spPr>
          <a:xfrm>
            <a:off x="5148072" y="5248656"/>
            <a:ext cx="3474720"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Excel</a:t>
            </a:r>
            <a:endParaRPr lang="en-US" sz="1850" dirty="0"/>
          </a:p>
        </p:txBody>
      </p:sp>
      <p:sp>
        <p:nvSpPr>
          <p:cNvPr id="31" name="Text 11"/>
          <p:cNvSpPr/>
          <p:nvPr/>
        </p:nvSpPr>
        <p:spPr>
          <a:xfrm>
            <a:off x="5148072" y="5715000"/>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 Data validation and preliminary analysis</a:t>
            </a:r>
            <a:endParaRPr lang="en-US" sz="1480" dirty="0"/>
          </a:p>
        </p:txBody>
      </p:sp>
      <p:sp>
        <p:nvSpPr>
          <p:cNvPr id="32" name="Text 12"/>
          <p:cNvSpPr/>
          <p:nvPr/>
        </p:nvSpPr>
        <p:spPr>
          <a:xfrm>
            <a:off x="6793992" y="4617720"/>
            <a:ext cx="173736" cy="374904"/>
          </a:xfrm>
          <a:prstGeom prst="rect">
            <a:avLst/>
          </a:prstGeom>
          <a:noFill/>
          <a:ln/>
        </p:spPr>
        <p:txBody>
          <a:bodyPr wrap="none" lIns="0" tIns="0" rIns="0" bIns="0" rtlCol="0" anchor="ctr"/>
          <a:lstStyle/>
          <a:p>
            <a:pPr algn="l" indent="0" marL="0">
              <a:lnSpc>
                <a:spcPts val="2670"/>
              </a:lnSpc>
              <a:buNone/>
            </a:pPr>
            <a:r>
              <a:rPr lang="en-US" sz="2220" dirty="0">
                <a:solidFill>
                  <a:srgbClr val="454545"/>
                </a:solidFill>
                <a:latin typeface="MiSans-MiSans-Regular" pitchFamily="34" charset="0"/>
                <a:ea typeface="MiSans-MiSans-Regular" pitchFamily="34" charset="-122"/>
                <a:cs typeface="MiSans-MiSans-Regular" pitchFamily="34" charset="-120"/>
              </a:rPr>
              <a:t>4</a:t>
            </a:r>
            <a:endParaRPr lang="en-US" sz="2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8238744"/>
          </a:xfrm>
          <a:prstGeom prst="rect">
            <a:avLst/>
          </a:prstGeom>
        </p:spPr>
      </p:pic>
      <p:pic>
        <p:nvPicPr>
          <p:cNvPr id="4" name="Image 2" descr="preencoded.png">    </p:cNvPr>
          <p:cNvPicPr>
            <a:picLocks noChangeAspect="1"/>
          </p:cNvPicPr>
          <p:nvPr/>
        </p:nvPicPr>
        <p:blipFill>
          <a:blip r:embed="rId3"/>
          <a:stretch>
            <a:fillRect/>
          </a:stretch>
        </p:blipFill>
        <p:spPr>
          <a:xfrm>
            <a:off x="832104" y="5321808"/>
            <a:ext cx="12984480" cy="27432"/>
          </a:xfrm>
          <a:prstGeom prst="rect">
            <a:avLst/>
          </a:prstGeom>
        </p:spPr>
      </p:pic>
      <p:sp>
        <p:nvSpPr>
          <p:cNvPr id="5" name="Text 0"/>
          <p:cNvSpPr/>
          <p:nvPr/>
        </p:nvSpPr>
        <p:spPr>
          <a:xfrm>
            <a:off x="832104" y="134416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6" name="Text 1"/>
          <p:cNvSpPr/>
          <p:nvPr/>
        </p:nvSpPr>
        <p:spPr>
          <a:xfrm>
            <a:off x="832104" y="1792224"/>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7" name="Text 2"/>
          <p:cNvSpPr/>
          <p:nvPr/>
        </p:nvSpPr>
        <p:spPr>
          <a:xfrm>
            <a:off x="832104" y="2240280"/>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8" name="Text 3"/>
          <p:cNvSpPr/>
          <p:nvPr/>
        </p:nvSpPr>
        <p:spPr>
          <a:xfrm>
            <a:off x="832104" y="2688336"/>
            <a:ext cx="12984480" cy="822960"/>
          </a:xfrm>
          <a:prstGeom prst="rect">
            <a:avLst/>
          </a:prstGeom>
          <a:noFill/>
          <a:ln/>
        </p:spPr>
        <p:txBody>
          <a:bodyPr wrap="none" lIns="0" tIns="0" rIns="0" bIns="0" rtlCol="0" anchor="ctr"/>
          <a:lstStyle/>
          <a:p>
            <a:pPr algn="l" indent="0" marL="0">
              <a:lnSpc>
                <a:spcPts val="6410"/>
              </a:lnSpc>
              <a:buNone/>
            </a:pPr>
            <a:r>
              <a:rPr lang="en-US" sz="5120" i="1" dirty="0">
                <a:solidFill>
                  <a:srgbClr val="3F4460"/>
                </a:solidFill>
                <a:latin typeface="思源宋体-思源宋体-Heavy" pitchFamily="34" charset="0"/>
                <a:ea typeface="思源宋体-思源宋体-Heavy" pitchFamily="34" charset="-122"/>
                <a:cs typeface="思源宋体-思源宋体-Heavy" pitchFamily="34" charset="-120"/>
              </a:rPr>
              <a:t>02</a:t>
            </a:r>
            <a:endParaRPr lang="en-US" sz="5120" dirty="0"/>
          </a:p>
        </p:txBody>
      </p:sp>
      <p:sp>
        <p:nvSpPr>
          <p:cNvPr id="9" name="Text 4"/>
          <p:cNvSpPr/>
          <p:nvPr/>
        </p:nvSpPr>
        <p:spPr>
          <a:xfrm>
            <a:off x="832104" y="3712464"/>
            <a:ext cx="12984480" cy="594360"/>
          </a:xfrm>
          <a:prstGeom prst="rect">
            <a:avLst/>
          </a:prstGeom>
          <a:noFill/>
          <a:ln/>
        </p:spPr>
        <p:txBody>
          <a:bodyPr wrap="none" lIns="0" tIns="0" rIns="0" bIns="0" rtlCol="0" anchor="ctr"/>
          <a:lstStyle/>
          <a:p>
            <a:pPr algn="l" indent="0" marL="0">
              <a:lnSpc>
                <a:spcPts val="4640"/>
              </a:lnSpc>
              <a:buNone/>
            </a:pPr>
            <a:r>
              <a:rPr lang="en-US" sz="3710" i="1" dirty="0">
                <a:solidFill>
                  <a:srgbClr val="3F4460"/>
                </a:solidFill>
                <a:latin typeface="思源宋体-思源宋体-Heavy" pitchFamily="34" charset="0"/>
                <a:ea typeface="思源宋体-思源宋体-Heavy" pitchFamily="34" charset="-122"/>
                <a:cs typeface="思源宋体-思源宋体-Heavy" pitchFamily="34" charset="-120"/>
              </a:rPr>
              <a:t>Data Architecture &amp; Relationships</a:t>
            </a:r>
            <a:endParaRPr lang="en-US" sz="3710" dirty="0"/>
          </a:p>
        </p:txBody>
      </p:sp>
      <p:sp>
        <p:nvSpPr>
          <p:cNvPr id="10" name="Text 5"/>
          <p:cNvSpPr/>
          <p:nvPr/>
        </p:nvSpPr>
        <p:spPr>
          <a:xfrm>
            <a:off x="832104" y="4517136"/>
            <a:ext cx="12984480" cy="594360"/>
          </a:xfrm>
          <a:prstGeom prst="rect">
            <a:avLst/>
          </a:prstGeom>
          <a:noFill/>
          <a:ln/>
        </p:spPr>
        <p:txBody>
          <a:bodyPr wrap="none" lIns="0" tIns="0" rIns="0" bIns="0" rtlCol="0" anchor="ctr"/>
          <a:lstStyle/>
          <a:p>
            <a:pPr algn="l" indent="0" marL="0">
              <a:lnSpc>
                <a:spcPts val="4640"/>
              </a:lnSpc>
              <a:buNone/>
            </a:pPr>
            <a:r>
              <a:rPr lang="en-US" sz="3710" i="1" dirty="0">
                <a:solidFill>
                  <a:srgbClr val="3F4460"/>
                </a:solidFill>
                <a:latin typeface="思源宋体-思源宋体-Heavy" pitchFamily="34" charset="0"/>
                <a:ea typeface="思源宋体-思源宋体-Heavy" pitchFamily="34" charset="-122"/>
                <a:cs typeface="思源宋体-思源宋体-Heavy" pitchFamily="34" charset="-120"/>
              </a:rPr>
              <a:t> </a:t>
            </a:r>
            <a:endParaRPr lang="en-US" sz="3710" dirty="0"/>
          </a:p>
        </p:txBody>
      </p:sp>
      <p:sp>
        <p:nvSpPr>
          <p:cNvPr id="11" name="Text 6"/>
          <p:cNvSpPr/>
          <p:nvPr/>
        </p:nvSpPr>
        <p:spPr>
          <a:xfrm>
            <a:off x="832104" y="555040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2" name="Text 7"/>
          <p:cNvSpPr/>
          <p:nvPr/>
        </p:nvSpPr>
        <p:spPr>
          <a:xfrm>
            <a:off x="832104" y="5998464"/>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3" name="Text 8"/>
          <p:cNvSpPr/>
          <p:nvPr/>
        </p:nvSpPr>
        <p:spPr>
          <a:xfrm>
            <a:off x="832104" y="6446520"/>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631936"/>
          </a:xfrm>
          <a:prstGeom prst="rect">
            <a:avLst/>
          </a:prstGeom>
        </p:spPr>
      </p:pic>
      <p:pic>
        <p:nvPicPr>
          <p:cNvPr id="3" name="Image 1" descr="preencoded.png">    </p:cNvPr>
          <p:cNvPicPr>
            <a:picLocks noChangeAspect="1"/>
          </p:cNvPicPr>
          <p:nvPr/>
        </p:nvPicPr>
        <p:blipFill>
          <a:blip r:embed="rId2"/>
          <a:stretch>
            <a:fillRect/>
          </a:stretch>
        </p:blipFill>
        <p:spPr>
          <a:xfrm>
            <a:off x="3593592" y="1901952"/>
            <a:ext cx="7452360" cy="6080760"/>
          </a:xfrm>
          <a:prstGeom prst="rect">
            <a:avLst/>
          </a:prstGeom>
        </p:spPr>
      </p:pic>
      <p:sp>
        <p:nvSpPr>
          <p:cNvPr id="4" name="Text 0"/>
          <p:cNvSpPr/>
          <p:nvPr/>
        </p:nvSpPr>
        <p:spPr>
          <a:xfrm>
            <a:off x="832104" y="649224"/>
            <a:ext cx="12984480" cy="594360"/>
          </a:xfrm>
          <a:prstGeom prst="rect">
            <a:avLst/>
          </a:prstGeom>
          <a:noFill/>
          <a:ln/>
        </p:spPr>
        <p:txBody>
          <a:bodyPr wrap="non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Data Schema</a:t>
            </a:r>
            <a:endParaRPr lang="en-US" sz="3710" dirty="0"/>
          </a:p>
        </p:txBody>
      </p:sp>
      <p:sp>
        <p:nvSpPr>
          <p:cNvPr id="5" name="Text 1"/>
          <p:cNvSpPr/>
          <p:nvPr/>
        </p:nvSpPr>
        <p:spPr>
          <a:xfrm>
            <a:off x="832104" y="1453896"/>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2807208"/>
          </a:xfrm>
          <a:prstGeom prst="rect">
            <a:avLst/>
          </a:prstGeom>
        </p:spPr>
      </p:pic>
      <p:pic>
        <p:nvPicPr>
          <p:cNvPr id="4" name="Image 2" descr="preencoded.png">    </p:cNvPr>
          <p:cNvPicPr>
            <a:picLocks noChangeAspect="1"/>
          </p:cNvPicPr>
          <p:nvPr/>
        </p:nvPicPr>
        <p:blipFill>
          <a:blip r:embed="rId3"/>
          <a:stretch>
            <a:fillRect/>
          </a:stretch>
        </p:blipFill>
        <p:spPr>
          <a:xfrm>
            <a:off x="832104" y="4736592"/>
            <a:ext cx="2450592" cy="1719072"/>
          </a:xfrm>
          <a:prstGeom prst="rect">
            <a:avLst/>
          </a:prstGeom>
        </p:spPr>
      </p:pic>
      <p:pic>
        <p:nvPicPr>
          <p:cNvPr id="5" name="Image 3" descr="preencoded.png">    </p:cNvPr>
          <p:cNvPicPr>
            <a:picLocks noChangeAspect="1"/>
          </p:cNvPicPr>
          <p:nvPr/>
        </p:nvPicPr>
        <p:blipFill>
          <a:blip r:embed="rId4"/>
          <a:stretch>
            <a:fillRect/>
          </a:stretch>
        </p:blipFill>
        <p:spPr>
          <a:xfrm>
            <a:off x="3465576" y="4736592"/>
            <a:ext cx="2450592" cy="1719072"/>
          </a:xfrm>
          <a:prstGeom prst="rect">
            <a:avLst/>
          </a:prstGeom>
        </p:spPr>
      </p:pic>
      <p:pic>
        <p:nvPicPr>
          <p:cNvPr id="6" name="Image 4" descr="preencoded.png">    </p:cNvPr>
          <p:cNvPicPr>
            <a:picLocks noChangeAspect="1"/>
          </p:cNvPicPr>
          <p:nvPr/>
        </p:nvPicPr>
        <p:blipFill>
          <a:blip r:embed="rId5"/>
          <a:stretch>
            <a:fillRect/>
          </a:stretch>
        </p:blipFill>
        <p:spPr>
          <a:xfrm>
            <a:off x="6099048" y="4736592"/>
            <a:ext cx="2450592" cy="1719072"/>
          </a:xfrm>
          <a:prstGeom prst="rect">
            <a:avLst/>
          </a:prstGeom>
        </p:spPr>
      </p:pic>
      <p:pic>
        <p:nvPicPr>
          <p:cNvPr id="7" name="Image 5" descr="preencoded.png">    </p:cNvPr>
          <p:cNvPicPr>
            <a:picLocks noChangeAspect="1"/>
          </p:cNvPicPr>
          <p:nvPr/>
        </p:nvPicPr>
        <p:blipFill>
          <a:blip r:embed="rId6"/>
          <a:stretch>
            <a:fillRect/>
          </a:stretch>
        </p:blipFill>
        <p:spPr>
          <a:xfrm>
            <a:off x="8732520" y="4736592"/>
            <a:ext cx="2450592" cy="1719072"/>
          </a:xfrm>
          <a:prstGeom prst="rect">
            <a:avLst/>
          </a:prstGeom>
        </p:spPr>
      </p:pic>
      <p:pic>
        <p:nvPicPr>
          <p:cNvPr id="8" name="Image 6" descr="preencoded.png">    </p:cNvPr>
          <p:cNvPicPr>
            <a:picLocks noChangeAspect="1"/>
          </p:cNvPicPr>
          <p:nvPr/>
        </p:nvPicPr>
        <p:blipFill>
          <a:blip r:embed="rId7"/>
          <a:stretch>
            <a:fillRect/>
          </a:stretch>
        </p:blipFill>
        <p:spPr>
          <a:xfrm>
            <a:off x="11365992" y="4736592"/>
            <a:ext cx="2450592" cy="1719072"/>
          </a:xfrm>
          <a:prstGeom prst="rect">
            <a:avLst/>
          </a:prstGeom>
        </p:spPr>
      </p:pic>
      <p:sp>
        <p:nvSpPr>
          <p:cNvPr id="9" name="Text 0"/>
          <p:cNvSpPr/>
          <p:nvPr/>
        </p:nvSpPr>
        <p:spPr>
          <a:xfrm>
            <a:off x="832104" y="3931920"/>
            <a:ext cx="12984480" cy="594360"/>
          </a:xfrm>
          <a:prstGeom prst="rect">
            <a:avLst/>
          </a:prstGeom>
          <a:noFill/>
          <a:ln/>
        </p:spPr>
        <p:txBody>
          <a:bodyPr wrap="non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Key Relationships</a:t>
            </a:r>
            <a:endParaRPr lang="en-US" sz="3710" dirty="0"/>
          </a:p>
        </p:txBody>
      </p:sp>
      <p:sp>
        <p:nvSpPr>
          <p:cNvPr id="10" name="Text 1"/>
          <p:cNvSpPr/>
          <p:nvPr/>
        </p:nvSpPr>
        <p:spPr>
          <a:xfrm>
            <a:off x="1051560" y="4855464"/>
            <a:ext cx="2011680" cy="594360"/>
          </a:xfrm>
          <a:prstGeom prst="rect">
            <a:avLst/>
          </a:prstGeom>
          <a:noFill/>
          <a:ln/>
        </p:spPr>
        <p:txBody>
          <a:bodyPr wrap="squar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Sales ↔ Salesperson</a:t>
            </a:r>
            <a:endParaRPr lang="en-US" sz="1850" dirty="0"/>
          </a:p>
        </p:txBody>
      </p:sp>
      <p:sp>
        <p:nvSpPr>
          <p:cNvPr id="11" name="Text 2"/>
          <p:cNvSpPr/>
          <p:nvPr/>
        </p:nvSpPr>
        <p:spPr>
          <a:xfrm>
            <a:off x="1051560" y="5614416"/>
            <a:ext cx="201168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 Employee performance tracking</a:t>
            </a:r>
            <a:endParaRPr lang="en-US" sz="1480" dirty="0"/>
          </a:p>
        </p:txBody>
      </p:sp>
      <p:sp>
        <p:nvSpPr>
          <p:cNvPr id="12" name="Text 3"/>
          <p:cNvSpPr/>
          <p:nvPr/>
        </p:nvSpPr>
        <p:spPr>
          <a:xfrm>
            <a:off x="3685032" y="4855464"/>
            <a:ext cx="2011680" cy="594360"/>
          </a:xfrm>
          <a:prstGeom prst="rect">
            <a:avLst/>
          </a:prstGeom>
          <a:noFill/>
          <a:ln/>
        </p:spPr>
        <p:txBody>
          <a:bodyPr wrap="squar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Sales ↔ Product</a:t>
            </a:r>
            <a:endParaRPr lang="en-US" sz="1850" dirty="0"/>
          </a:p>
        </p:txBody>
      </p:sp>
      <p:sp>
        <p:nvSpPr>
          <p:cNvPr id="13" name="Text 4"/>
          <p:cNvSpPr/>
          <p:nvPr/>
        </p:nvSpPr>
        <p:spPr>
          <a:xfrm>
            <a:off x="832104" y="6665976"/>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4" name="Text 5"/>
          <p:cNvSpPr/>
          <p:nvPr/>
        </p:nvSpPr>
        <p:spPr>
          <a:xfrm>
            <a:off x="3685032" y="5614416"/>
            <a:ext cx="201168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 Product profitability analysis</a:t>
            </a:r>
            <a:endParaRPr lang="en-US" sz="1480" dirty="0"/>
          </a:p>
        </p:txBody>
      </p:sp>
      <p:sp>
        <p:nvSpPr>
          <p:cNvPr id="15" name="Text 6"/>
          <p:cNvSpPr/>
          <p:nvPr/>
        </p:nvSpPr>
        <p:spPr>
          <a:xfrm>
            <a:off x="6318504" y="4855464"/>
            <a:ext cx="2011680" cy="594360"/>
          </a:xfrm>
          <a:prstGeom prst="rect">
            <a:avLst/>
          </a:prstGeom>
          <a:noFill/>
          <a:ln/>
        </p:spPr>
        <p:txBody>
          <a:bodyPr wrap="squar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Sales ↔ Reseller</a:t>
            </a:r>
            <a:endParaRPr lang="en-US" sz="1850" dirty="0"/>
          </a:p>
        </p:txBody>
      </p:sp>
      <p:sp>
        <p:nvSpPr>
          <p:cNvPr id="16" name="Text 7"/>
          <p:cNvSpPr/>
          <p:nvPr/>
        </p:nvSpPr>
        <p:spPr>
          <a:xfrm>
            <a:off x="6318504" y="5614416"/>
            <a:ext cx="2011680" cy="713232"/>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 Channel performance monitoring</a:t>
            </a:r>
            <a:endParaRPr lang="en-US" sz="1480" dirty="0"/>
          </a:p>
        </p:txBody>
      </p:sp>
      <p:sp>
        <p:nvSpPr>
          <p:cNvPr id="17" name="Text 8"/>
          <p:cNvSpPr/>
          <p:nvPr/>
        </p:nvSpPr>
        <p:spPr>
          <a:xfrm>
            <a:off x="8951976" y="4855464"/>
            <a:ext cx="2011680"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Sales ↔ Region</a:t>
            </a:r>
            <a:endParaRPr lang="en-US" sz="1850" dirty="0"/>
          </a:p>
        </p:txBody>
      </p:sp>
      <p:sp>
        <p:nvSpPr>
          <p:cNvPr id="18" name="Text 9"/>
          <p:cNvSpPr/>
          <p:nvPr/>
        </p:nvSpPr>
        <p:spPr>
          <a:xfrm>
            <a:off x="8951976" y="5321808"/>
            <a:ext cx="201168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 Geographic performance analysis</a:t>
            </a:r>
            <a:endParaRPr lang="en-US" sz="1480" dirty="0"/>
          </a:p>
        </p:txBody>
      </p:sp>
      <p:sp>
        <p:nvSpPr>
          <p:cNvPr id="19" name="Text 10"/>
          <p:cNvSpPr/>
          <p:nvPr/>
        </p:nvSpPr>
        <p:spPr>
          <a:xfrm>
            <a:off x="11585448" y="4855464"/>
            <a:ext cx="2011680" cy="594360"/>
          </a:xfrm>
          <a:prstGeom prst="rect">
            <a:avLst/>
          </a:prstGeom>
          <a:noFill/>
          <a:ln/>
        </p:spPr>
        <p:txBody>
          <a:bodyPr wrap="squar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Salesperson ↔ Targets</a:t>
            </a:r>
            <a:endParaRPr lang="en-US" sz="1850" dirty="0"/>
          </a:p>
        </p:txBody>
      </p:sp>
      <p:sp>
        <p:nvSpPr>
          <p:cNvPr id="20" name="Text 11"/>
          <p:cNvSpPr/>
          <p:nvPr/>
        </p:nvSpPr>
        <p:spPr>
          <a:xfrm>
            <a:off x="11585448" y="5614416"/>
            <a:ext cx="201168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 Goal achievement measurement</a:t>
            </a:r>
            <a:endParaRPr lang="en-US" sz="14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4974336" cy="8238744"/>
          </a:xfrm>
          <a:prstGeom prst="rect">
            <a:avLst/>
          </a:prstGeom>
        </p:spPr>
      </p:pic>
      <p:pic>
        <p:nvPicPr>
          <p:cNvPr id="4" name="Image 2" descr="preencoded.png">    </p:cNvPr>
          <p:cNvPicPr>
            <a:picLocks noChangeAspect="1"/>
          </p:cNvPicPr>
          <p:nvPr/>
        </p:nvPicPr>
        <p:blipFill>
          <a:blip r:embed="rId3"/>
          <a:stretch>
            <a:fillRect/>
          </a:stretch>
        </p:blipFill>
        <p:spPr>
          <a:xfrm>
            <a:off x="5815584" y="2578608"/>
            <a:ext cx="7982712" cy="1078992"/>
          </a:xfrm>
          <a:prstGeom prst="rect">
            <a:avLst/>
          </a:prstGeom>
        </p:spPr>
      </p:pic>
      <p:pic>
        <p:nvPicPr>
          <p:cNvPr id="5" name="Image 3" descr="preencoded.png">    </p:cNvPr>
          <p:cNvPicPr>
            <a:picLocks noChangeAspect="1"/>
          </p:cNvPicPr>
          <p:nvPr/>
        </p:nvPicPr>
        <p:blipFill>
          <a:blip r:embed="rId4"/>
          <a:stretch>
            <a:fillRect/>
          </a:stretch>
        </p:blipFill>
        <p:spPr>
          <a:xfrm>
            <a:off x="5815584" y="3877056"/>
            <a:ext cx="7982712" cy="1078992"/>
          </a:xfrm>
          <a:prstGeom prst="rect">
            <a:avLst/>
          </a:prstGeom>
        </p:spPr>
      </p:pic>
      <p:pic>
        <p:nvPicPr>
          <p:cNvPr id="6" name="Image 4" descr="preencoded.png">    </p:cNvPr>
          <p:cNvPicPr>
            <a:picLocks noChangeAspect="1"/>
          </p:cNvPicPr>
          <p:nvPr/>
        </p:nvPicPr>
        <p:blipFill>
          <a:blip r:embed="rId5"/>
          <a:stretch>
            <a:fillRect/>
          </a:stretch>
        </p:blipFill>
        <p:spPr>
          <a:xfrm>
            <a:off x="5815584" y="5175504"/>
            <a:ext cx="7982712" cy="1078992"/>
          </a:xfrm>
          <a:prstGeom prst="rect">
            <a:avLst/>
          </a:prstGeom>
        </p:spPr>
      </p:pic>
      <p:pic>
        <p:nvPicPr>
          <p:cNvPr id="7" name="Image 5" descr="preencoded.png">    </p:cNvPr>
          <p:cNvPicPr>
            <a:picLocks noChangeAspect="1"/>
          </p:cNvPicPr>
          <p:nvPr/>
        </p:nvPicPr>
        <p:blipFill>
          <a:blip r:embed="rId6"/>
          <a:stretch>
            <a:fillRect/>
          </a:stretch>
        </p:blipFill>
        <p:spPr>
          <a:xfrm>
            <a:off x="6574536" y="2770632"/>
            <a:ext cx="7031736" cy="704088"/>
          </a:xfrm>
          <a:prstGeom prst="rect">
            <a:avLst/>
          </a:prstGeom>
        </p:spPr>
      </p:pic>
      <p:pic>
        <p:nvPicPr>
          <p:cNvPr id="8" name="Image 6" descr="preencoded.png">    </p:cNvPr>
          <p:cNvPicPr>
            <a:picLocks noChangeAspect="1"/>
          </p:cNvPicPr>
          <p:nvPr/>
        </p:nvPicPr>
        <p:blipFill>
          <a:blip r:embed="rId7"/>
          <a:stretch>
            <a:fillRect/>
          </a:stretch>
        </p:blipFill>
        <p:spPr>
          <a:xfrm>
            <a:off x="6574536" y="4069080"/>
            <a:ext cx="7031736" cy="704088"/>
          </a:xfrm>
          <a:prstGeom prst="rect">
            <a:avLst/>
          </a:prstGeom>
        </p:spPr>
      </p:pic>
      <p:pic>
        <p:nvPicPr>
          <p:cNvPr id="9" name="Image 7" descr="preencoded.png">    </p:cNvPr>
          <p:cNvPicPr>
            <a:picLocks noChangeAspect="1"/>
          </p:cNvPicPr>
          <p:nvPr/>
        </p:nvPicPr>
        <p:blipFill>
          <a:blip r:embed="rId8"/>
          <a:stretch>
            <a:fillRect/>
          </a:stretch>
        </p:blipFill>
        <p:spPr>
          <a:xfrm>
            <a:off x="6574536" y="5358384"/>
            <a:ext cx="7031736" cy="704088"/>
          </a:xfrm>
          <a:prstGeom prst="rect">
            <a:avLst/>
          </a:prstGeom>
        </p:spPr>
      </p:pic>
      <p:pic>
        <p:nvPicPr>
          <p:cNvPr id="10" name="Image 8" descr="preencoded.png">    </p:cNvPr>
          <p:cNvPicPr>
            <a:picLocks noChangeAspect="1"/>
          </p:cNvPicPr>
          <p:nvPr/>
        </p:nvPicPr>
        <p:blipFill>
          <a:blip r:embed="rId9"/>
          <a:stretch>
            <a:fillRect/>
          </a:stretch>
        </p:blipFill>
        <p:spPr>
          <a:xfrm>
            <a:off x="5989320" y="2752344"/>
            <a:ext cx="411480" cy="411480"/>
          </a:xfrm>
          <a:prstGeom prst="rect">
            <a:avLst/>
          </a:prstGeom>
        </p:spPr>
      </p:pic>
      <p:pic>
        <p:nvPicPr>
          <p:cNvPr id="11" name="Image 9" descr="preencoded.png">    </p:cNvPr>
          <p:cNvPicPr>
            <a:picLocks noChangeAspect="1"/>
          </p:cNvPicPr>
          <p:nvPr/>
        </p:nvPicPr>
        <p:blipFill>
          <a:blip r:embed="rId10"/>
          <a:stretch>
            <a:fillRect/>
          </a:stretch>
        </p:blipFill>
        <p:spPr>
          <a:xfrm>
            <a:off x="5989320" y="4050792"/>
            <a:ext cx="411480" cy="411480"/>
          </a:xfrm>
          <a:prstGeom prst="rect">
            <a:avLst/>
          </a:prstGeom>
        </p:spPr>
      </p:pic>
      <p:pic>
        <p:nvPicPr>
          <p:cNvPr id="12" name="Image 10" descr="preencoded.png">    </p:cNvPr>
          <p:cNvPicPr>
            <a:picLocks noChangeAspect="1"/>
          </p:cNvPicPr>
          <p:nvPr/>
        </p:nvPicPr>
        <p:blipFill>
          <a:blip r:embed="rId11"/>
          <a:stretch>
            <a:fillRect/>
          </a:stretch>
        </p:blipFill>
        <p:spPr>
          <a:xfrm>
            <a:off x="5989320" y="5349240"/>
            <a:ext cx="411480" cy="411480"/>
          </a:xfrm>
          <a:prstGeom prst="rect">
            <a:avLst/>
          </a:prstGeom>
        </p:spPr>
      </p:pic>
      <p:sp>
        <p:nvSpPr>
          <p:cNvPr id="13" name="Text 0"/>
          <p:cNvSpPr/>
          <p:nvPr/>
        </p:nvSpPr>
        <p:spPr>
          <a:xfrm>
            <a:off x="5806440" y="1764792"/>
            <a:ext cx="8010144" cy="594360"/>
          </a:xfrm>
          <a:prstGeom prst="rect">
            <a:avLst/>
          </a:prstGeom>
          <a:noFill/>
          <a:ln/>
        </p:spPr>
        <p:txBody>
          <a:bodyPr wrap="non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Data Quality Assessment</a:t>
            </a:r>
            <a:endParaRPr lang="en-US" sz="3710" dirty="0"/>
          </a:p>
        </p:txBody>
      </p:sp>
      <p:sp>
        <p:nvSpPr>
          <p:cNvPr id="14" name="Text 1"/>
          <p:cNvSpPr/>
          <p:nvPr/>
        </p:nvSpPr>
        <p:spPr>
          <a:xfrm>
            <a:off x="6144768" y="2798064"/>
            <a:ext cx="109728"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1</a:t>
            </a:r>
            <a:endParaRPr lang="en-US" sz="1850" dirty="0"/>
          </a:p>
        </p:txBody>
      </p:sp>
      <p:sp>
        <p:nvSpPr>
          <p:cNvPr id="15" name="Text 2"/>
          <p:cNvSpPr/>
          <p:nvPr/>
        </p:nvSpPr>
        <p:spPr>
          <a:xfrm>
            <a:off x="6574536" y="2770632"/>
            <a:ext cx="7031736"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Completeness</a:t>
            </a:r>
            <a:endParaRPr lang="en-US" sz="1850" dirty="0"/>
          </a:p>
        </p:txBody>
      </p:sp>
      <p:sp>
        <p:nvSpPr>
          <p:cNvPr id="16" name="Text 3"/>
          <p:cNvSpPr/>
          <p:nvPr/>
        </p:nvSpPr>
        <p:spPr>
          <a:xfrm>
            <a:off x="6574536" y="3236976"/>
            <a:ext cx="7031736"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 98% data completeness across all tables</a:t>
            </a:r>
            <a:endParaRPr lang="en-US" sz="1480" dirty="0"/>
          </a:p>
        </p:txBody>
      </p:sp>
      <p:sp>
        <p:nvSpPr>
          <p:cNvPr id="17" name="Text 4"/>
          <p:cNvSpPr/>
          <p:nvPr/>
        </p:nvSpPr>
        <p:spPr>
          <a:xfrm>
            <a:off x="6126480" y="4096512"/>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2</a:t>
            </a:r>
            <a:endParaRPr lang="en-US" sz="1850" dirty="0"/>
          </a:p>
        </p:txBody>
      </p:sp>
      <p:sp>
        <p:nvSpPr>
          <p:cNvPr id="18" name="Text 5"/>
          <p:cNvSpPr/>
          <p:nvPr/>
        </p:nvSpPr>
        <p:spPr>
          <a:xfrm>
            <a:off x="6574536" y="4069080"/>
            <a:ext cx="7031736"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Consistency</a:t>
            </a:r>
            <a:endParaRPr lang="en-US" sz="1850" dirty="0"/>
          </a:p>
        </p:txBody>
      </p:sp>
      <p:sp>
        <p:nvSpPr>
          <p:cNvPr id="19" name="Text 6"/>
          <p:cNvSpPr/>
          <p:nvPr/>
        </p:nvSpPr>
        <p:spPr>
          <a:xfrm>
            <a:off x="6574536" y="4526280"/>
            <a:ext cx="7031736"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 Standardized formats and naming conventions</a:t>
            </a:r>
            <a:endParaRPr lang="en-US" sz="1480" dirty="0"/>
          </a:p>
        </p:txBody>
      </p:sp>
      <p:sp>
        <p:nvSpPr>
          <p:cNvPr id="20" name="Text 7"/>
          <p:cNvSpPr/>
          <p:nvPr/>
        </p:nvSpPr>
        <p:spPr>
          <a:xfrm>
            <a:off x="6126480" y="5394960"/>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3</a:t>
            </a:r>
            <a:endParaRPr lang="en-US" sz="1850" dirty="0"/>
          </a:p>
        </p:txBody>
      </p:sp>
      <p:sp>
        <p:nvSpPr>
          <p:cNvPr id="21" name="Text 8"/>
          <p:cNvSpPr/>
          <p:nvPr/>
        </p:nvSpPr>
        <p:spPr>
          <a:xfrm>
            <a:off x="6574536" y="5358384"/>
            <a:ext cx="7031736"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Accuracy</a:t>
            </a:r>
            <a:endParaRPr lang="en-US" sz="1850" dirty="0"/>
          </a:p>
        </p:txBody>
      </p:sp>
      <p:sp>
        <p:nvSpPr>
          <p:cNvPr id="22" name="Text 9"/>
          <p:cNvSpPr/>
          <p:nvPr/>
        </p:nvSpPr>
        <p:spPr>
          <a:xfrm>
            <a:off x="6574536" y="5824728"/>
            <a:ext cx="7031736"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 Validated against source systems with 99.5% accuracy</a:t>
            </a:r>
            <a:endParaRPr lang="en-US" sz="14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8238744"/>
          </a:xfrm>
          <a:prstGeom prst="rect">
            <a:avLst/>
          </a:prstGeom>
        </p:spPr>
      </p:pic>
      <p:pic>
        <p:nvPicPr>
          <p:cNvPr id="4" name="Image 2" descr="preencoded.png">    </p:cNvPr>
          <p:cNvPicPr>
            <a:picLocks noChangeAspect="1"/>
          </p:cNvPicPr>
          <p:nvPr/>
        </p:nvPicPr>
        <p:blipFill>
          <a:blip r:embed="rId3"/>
          <a:stretch>
            <a:fillRect/>
          </a:stretch>
        </p:blipFill>
        <p:spPr>
          <a:xfrm>
            <a:off x="832104" y="5321808"/>
            <a:ext cx="12984480" cy="27432"/>
          </a:xfrm>
          <a:prstGeom prst="rect">
            <a:avLst/>
          </a:prstGeom>
        </p:spPr>
      </p:pic>
      <p:sp>
        <p:nvSpPr>
          <p:cNvPr id="5" name="Text 0"/>
          <p:cNvSpPr/>
          <p:nvPr/>
        </p:nvSpPr>
        <p:spPr>
          <a:xfrm>
            <a:off x="832104" y="134416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6" name="Text 1"/>
          <p:cNvSpPr/>
          <p:nvPr/>
        </p:nvSpPr>
        <p:spPr>
          <a:xfrm>
            <a:off x="832104" y="1792224"/>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7" name="Text 2"/>
          <p:cNvSpPr/>
          <p:nvPr/>
        </p:nvSpPr>
        <p:spPr>
          <a:xfrm>
            <a:off x="832104" y="2240280"/>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8" name="Text 3"/>
          <p:cNvSpPr/>
          <p:nvPr/>
        </p:nvSpPr>
        <p:spPr>
          <a:xfrm>
            <a:off x="832104" y="2688336"/>
            <a:ext cx="12984480" cy="822960"/>
          </a:xfrm>
          <a:prstGeom prst="rect">
            <a:avLst/>
          </a:prstGeom>
          <a:noFill/>
          <a:ln/>
        </p:spPr>
        <p:txBody>
          <a:bodyPr wrap="none" lIns="0" tIns="0" rIns="0" bIns="0" rtlCol="0" anchor="ctr"/>
          <a:lstStyle/>
          <a:p>
            <a:pPr algn="l" indent="0" marL="0">
              <a:lnSpc>
                <a:spcPts val="6410"/>
              </a:lnSpc>
              <a:buNone/>
            </a:pPr>
            <a:r>
              <a:rPr lang="en-US" sz="5120" i="1" dirty="0">
                <a:solidFill>
                  <a:srgbClr val="3F4460"/>
                </a:solidFill>
                <a:latin typeface="思源宋体-思源宋体-Heavy" pitchFamily="34" charset="0"/>
                <a:ea typeface="思源宋体-思源宋体-Heavy" pitchFamily="34" charset="-122"/>
                <a:cs typeface="思源宋体-思源宋体-Heavy" pitchFamily="34" charset="-120"/>
              </a:rPr>
              <a:t>03</a:t>
            </a:r>
            <a:endParaRPr lang="en-US" sz="5120" dirty="0"/>
          </a:p>
        </p:txBody>
      </p:sp>
      <p:sp>
        <p:nvSpPr>
          <p:cNvPr id="9" name="Text 4"/>
          <p:cNvSpPr/>
          <p:nvPr/>
        </p:nvSpPr>
        <p:spPr>
          <a:xfrm>
            <a:off x="832104" y="3712464"/>
            <a:ext cx="12984480" cy="594360"/>
          </a:xfrm>
          <a:prstGeom prst="rect">
            <a:avLst/>
          </a:prstGeom>
          <a:noFill/>
          <a:ln/>
        </p:spPr>
        <p:txBody>
          <a:bodyPr wrap="none" lIns="0" tIns="0" rIns="0" bIns="0" rtlCol="0" anchor="ctr"/>
          <a:lstStyle/>
          <a:p>
            <a:pPr algn="l" indent="0" marL="0">
              <a:lnSpc>
                <a:spcPts val="4640"/>
              </a:lnSpc>
              <a:buNone/>
            </a:pPr>
            <a:r>
              <a:rPr lang="en-US" sz="3710" i="1" dirty="0">
                <a:solidFill>
                  <a:srgbClr val="3F4460"/>
                </a:solidFill>
                <a:latin typeface="思源宋体-思源宋体-Heavy" pitchFamily="34" charset="0"/>
                <a:ea typeface="思源宋体-思源宋体-Heavy" pitchFamily="34" charset="-122"/>
                <a:cs typeface="思源宋体-思源宋体-Heavy" pitchFamily="34" charset="-120"/>
              </a:rPr>
              <a:t>Power BI Dashboards</a:t>
            </a:r>
            <a:endParaRPr lang="en-US" sz="3710" dirty="0"/>
          </a:p>
        </p:txBody>
      </p:sp>
      <p:sp>
        <p:nvSpPr>
          <p:cNvPr id="10" name="Text 5"/>
          <p:cNvSpPr/>
          <p:nvPr/>
        </p:nvSpPr>
        <p:spPr>
          <a:xfrm>
            <a:off x="832104" y="4517136"/>
            <a:ext cx="12984480" cy="594360"/>
          </a:xfrm>
          <a:prstGeom prst="rect">
            <a:avLst/>
          </a:prstGeom>
          <a:noFill/>
          <a:ln/>
        </p:spPr>
        <p:txBody>
          <a:bodyPr wrap="none" lIns="0" tIns="0" rIns="0" bIns="0" rtlCol="0" anchor="ctr"/>
          <a:lstStyle/>
          <a:p>
            <a:pPr algn="l" indent="0" marL="0">
              <a:lnSpc>
                <a:spcPts val="4640"/>
              </a:lnSpc>
              <a:buNone/>
            </a:pPr>
            <a:r>
              <a:rPr lang="en-US" sz="3710" i="1" dirty="0">
                <a:solidFill>
                  <a:srgbClr val="3F4460"/>
                </a:solidFill>
                <a:latin typeface="思源宋体-思源宋体-Heavy" pitchFamily="34" charset="0"/>
                <a:ea typeface="思源宋体-思源宋体-Heavy" pitchFamily="34" charset="-122"/>
                <a:cs typeface="思源宋体-思源宋体-Heavy" pitchFamily="34" charset="-120"/>
              </a:rPr>
              <a:t> </a:t>
            </a:r>
            <a:endParaRPr lang="en-US" sz="3710" dirty="0"/>
          </a:p>
        </p:txBody>
      </p:sp>
      <p:sp>
        <p:nvSpPr>
          <p:cNvPr id="11" name="Text 6"/>
          <p:cNvSpPr/>
          <p:nvPr/>
        </p:nvSpPr>
        <p:spPr>
          <a:xfrm>
            <a:off x="832104" y="555040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2" name="Text 7"/>
          <p:cNvSpPr/>
          <p:nvPr/>
        </p:nvSpPr>
        <p:spPr>
          <a:xfrm>
            <a:off x="832104" y="5998464"/>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3" name="Text 8"/>
          <p:cNvSpPr/>
          <p:nvPr/>
        </p:nvSpPr>
        <p:spPr>
          <a:xfrm>
            <a:off x="832104" y="6446520"/>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2130552" y="1600200"/>
            <a:ext cx="10387584" cy="5724144"/>
          </a:xfrm>
          <a:prstGeom prst="rect">
            <a:avLst/>
          </a:prstGeom>
        </p:spPr>
      </p:pic>
      <p:sp>
        <p:nvSpPr>
          <p:cNvPr id="4" name="Text 0"/>
          <p:cNvSpPr/>
          <p:nvPr/>
        </p:nvSpPr>
        <p:spPr>
          <a:xfrm>
            <a:off x="832104" y="923544"/>
            <a:ext cx="12984480" cy="475488"/>
          </a:xfrm>
          <a:prstGeom prst="rect">
            <a:avLst/>
          </a:prstGeom>
          <a:noFill/>
          <a:ln/>
        </p:spPr>
        <p:txBody>
          <a:bodyPr wrap="none" lIns="0" tIns="0" rIns="0" bIns="0" rtlCol="0" anchor="ctr"/>
          <a:lstStyle/>
          <a:p>
            <a:pPr algn="ctr" indent="0" marL="0">
              <a:lnSpc>
                <a:spcPts val="3710"/>
              </a:lnSpc>
              <a:buNone/>
            </a:pPr>
            <a:r>
              <a:rPr lang="en-US" sz="2970" b="1" dirty="0">
                <a:solidFill>
                  <a:srgbClr val="3F4460"/>
                </a:solidFill>
                <a:latin typeface="思源宋体-思源宋体-Heavy" pitchFamily="34" charset="0"/>
                <a:ea typeface="思源宋体-思源宋体-Heavy" pitchFamily="34" charset="-122"/>
                <a:cs typeface="思源宋体-思源宋体-Heavy" pitchFamily="34" charset="-120"/>
              </a:rPr>
              <a:t>Sales Dashboard</a:t>
            </a:r>
            <a:endParaRPr lang="en-US" sz="297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4974336" cy="8238744"/>
          </a:xfrm>
          <a:prstGeom prst="rect">
            <a:avLst/>
          </a:prstGeom>
        </p:spPr>
      </p:pic>
      <p:pic>
        <p:nvPicPr>
          <p:cNvPr id="4" name="Image 2" descr="preencoded.png">    </p:cNvPr>
          <p:cNvPicPr>
            <a:picLocks noChangeAspect="1"/>
          </p:cNvPicPr>
          <p:nvPr/>
        </p:nvPicPr>
        <p:blipFill>
          <a:blip r:embed="rId3"/>
          <a:stretch>
            <a:fillRect/>
          </a:stretch>
        </p:blipFill>
        <p:spPr>
          <a:xfrm>
            <a:off x="5806440" y="3410712"/>
            <a:ext cx="3913632" cy="1481328"/>
          </a:xfrm>
          <a:prstGeom prst="rect">
            <a:avLst/>
          </a:prstGeom>
        </p:spPr>
      </p:pic>
      <p:pic>
        <p:nvPicPr>
          <p:cNvPr id="5" name="Image 3" descr="preencoded.png">    </p:cNvPr>
          <p:cNvPicPr>
            <a:picLocks noChangeAspect="1"/>
          </p:cNvPicPr>
          <p:nvPr/>
        </p:nvPicPr>
        <p:blipFill>
          <a:blip r:embed="rId4"/>
          <a:stretch>
            <a:fillRect/>
          </a:stretch>
        </p:blipFill>
        <p:spPr>
          <a:xfrm>
            <a:off x="5806440" y="5074920"/>
            <a:ext cx="3913632" cy="1481328"/>
          </a:xfrm>
          <a:prstGeom prst="rect">
            <a:avLst/>
          </a:prstGeom>
        </p:spPr>
      </p:pic>
      <p:pic>
        <p:nvPicPr>
          <p:cNvPr id="6" name="Image 4" descr="preencoded.png">    </p:cNvPr>
          <p:cNvPicPr>
            <a:picLocks noChangeAspect="1"/>
          </p:cNvPicPr>
          <p:nvPr/>
        </p:nvPicPr>
        <p:blipFill>
          <a:blip r:embed="rId5"/>
          <a:stretch>
            <a:fillRect/>
          </a:stretch>
        </p:blipFill>
        <p:spPr>
          <a:xfrm>
            <a:off x="9902952" y="3410712"/>
            <a:ext cx="3913632" cy="1481328"/>
          </a:xfrm>
          <a:prstGeom prst="rect">
            <a:avLst/>
          </a:prstGeom>
        </p:spPr>
      </p:pic>
      <p:pic>
        <p:nvPicPr>
          <p:cNvPr id="7" name="Image 5" descr="preencoded.png">    </p:cNvPr>
          <p:cNvPicPr>
            <a:picLocks noChangeAspect="1"/>
          </p:cNvPicPr>
          <p:nvPr/>
        </p:nvPicPr>
        <p:blipFill>
          <a:blip r:embed="rId6"/>
          <a:stretch>
            <a:fillRect/>
          </a:stretch>
        </p:blipFill>
        <p:spPr>
          <a:xfrm>
            <a:off x="9902952" y="5074920"/>
            <a:ext cx="3913632" cy="1481328"/>
          </a:xfrm>
          <a:prstGeom prst="rect">
            <a:avLst/>
          </a:prstGeom>
        </p:spPr>
      </p:pic>
      <p:pic>
        <p:nvPicPr>
          <p:cNvPr id="8" name="Image 6" descr="preencoded.png">    </p:cNvPr>
          <p:cNvPicPr>
            <a:picLocks noChangeAspect="1"/>
          </p:cNvPicPr>
          <p:nvPr/>
        </p:nvPicPr>
        <p:blipFill>
          <a:blip r:embed="rId7"/>
          <a:stretch>
            <a:fillRect/>
          </a:stretch>
        </p:blipFill>
        <p:spPr>
          <a:xfrm>
            <a:off x="6025896" y="4197096"/>
            <a:ext cx="3474720" cy="475488"/>
          </a:xfrm>
          <a:prstGeom prst="rect">
            <a:avLst/>
          </a:prstGeom>
        </p:spPr>
      </p:pic>
      <p:pic>
        <p:nvPicPr>
          <p:cNvPr id="9" name="Image 7" descr="preencoded.png">    </p:cNvPr>
          <p:cNvPicPr>
            <a:picLocks noChangeAspect="1"/>
          </p:cNvPicPr>
          <p:nvPr/>
        </p:nvPicPr>
        <p:blipFill>
          <a:blip r:embed="rId8"/>
          <a:stretch>
            <a:fillRect/>
          </a:stretch>
        </p:blipFill>
        <p:spPr>
          <a:xfrm>
            <a:off x="6025896" y="5861304"/>
            <a:ext cx="3474720" cy="475488"/>
          </a:xfrm>
          <a:prstGeom prst="rect">
            <a:avLst/>
          </a:prstGeom>
        </p:spPr>
      </p:pic>
      <p:pic>
        <p:nvPicPr>
          <p:cNvPr id="10" name="Image 8" descr="preencoded.png">    </p:cNvPr>
          <p:cNvPicPr>
            <a:picLocks noChangeAspect="1"/>
          </p:cNvPicPr>
          <p:nvPr/>
        </p:nvPicPr>
        <p:blipFill>
          <a:blip r:embed="rId9"/>
          <a:stretch>
            <a:fillRect/>
          </a:stretch>
        </p:blipFill>
        <p:spPr>
          <a:xfrm>
            <a:off x="10122408" y="4197096"/>
            <a:ext cx="3474720" cy="475488"/>
          </a:xfrm>
          <a:prstGeom prst="rect">
            <a:avLst/>
          </a:prstGeom>
        </p:spPr>
      </p:pic>
      <p:pic>
        <p:nvPicPr>
          <p:cNvPr id="11" name="Image 9" descr="preencoded.png">    </p:cNvPr>
          <p:cNvPicPr>
            <a:picLocks noChangeAspect="1"/>
          </p:cNvPicPr>
          <p:nvPr/>
        </p:nvPicPr>
        <p:blipFill>
          <a:blip r:embed="rId10"/>
          <a:stretch>
            <a:fillRect/>
          </a:stretch>
        </p:blipFill>
        <p:spPr>
          <a:xfrm>
            <a:off x="10122408" y="5861304"/>
            <a:ext cx="3474720" cy="475488"/>
          </a:xfrm>
          <a:prstGeom prst="rect">
            <a:avLst/>
          </a:prstGeom>
        </p:spPr>
      </p:pic>
      <p:pic>
        <p:nvPicPr>
          <p:cNvPr id="12" name="Image 10" descr="preencoded.png">    </p:cNvPr>
          <p:cNvPicPr>
            <a:picLocks noChangeAspect="1"/>
          </p:cNvPicPr>
          <p:nvPr/>
        </p:nvPicPr>
        <p:blipFill>
          <a:blip r:embed="rId11"/>
          <a:stretch>
            <a:fillRect/>
          </a:stretch>
        </p:blipFill>
        <p:spPr>
          <a:xfrm>
            <a:off x="6007608" y="3611880"/>
            <a:ext cx="411480" cy="411480"/>
          </a:xfrm>
          <a:prstGeom prst="rect">
            <a:avLst/>
          </a:prstGeom>
        </p:spPr>
      </p:pic>
      <p:pic>
        <p:nvPicPr>
          <p:cNvPr id="13" name="Image 11" descr="preencoded.png">    </p:cNvPr>
          <p:cNvPicPr>
            <a:picLocks noChangeAspect="1"/>
          </p:cNvPicPr>
          <p:nvPr/>
        </p:nvPicPr>
        <p:blipFill>
          <a:blip r:embed="rId12"/>
          <a:stretch>
            <a:fillRect/>
          </a:stretch>
        </p:blipFill>
        <p:spPr>
          <a:xfrm>
            <a:off x="6007608" y="5276088"/>
            <a:ext cx="411480" cy="411480"/>
          </a:xfrm>
          <a:prstGeom prst="rect">
            <a:avLst/>
          </a:prstGeom>
        </p:spPr>
      </p:pic>
      <p:pic>
        <p:nvPicPr>
          <p:cNvPr id="14" name="Image 12" descr="preencoded.png">    </p:cNvPr>
          <p:cNvPicPr>
            <a:picLocks noChangeAspect="1"/>
          </p:cNvPicPr>
          <p:nvPr/>
        </p:nvPicPr>
        <p:blipFill>
          <a:blip r:embed="rId13"/>
          <a:stretch>
            <a:fillRect/>
          </a:stretch>
        </p:blipFill>
        <p:spPr>
          <a:xfrm>
            <a:off x="10104120" y="3611880"/>
            <a:ext cx="411480" cy="411480"/>
          </a:xfrm>
          <a:prstGeom prst="rect">
            <a:avLst/>
          </a:prstGeom>
        </p:spPr>
      </p:pic>
      <p:pic>
        <p:nvPicPr>
          <p:cNvPr id="15" name="Image 13" descr="preencoded.png">    </p:cNvPr>
          <p:cNvPicPr>
            <a:picLocks noChangeAspect="1"/>
          </p:cNvPicPr>
          <p:nvPr/>
        </p:nvPicPr>
        <p:blipFill>
          <a:blip r:embed="rId14"/>
          <a:stretch>
            <a:fillRect/>
          </a:stretch>
        </p:blipFill>
        <p:spPr>
          <a:xfrm>
            <a:off x="10104120" y="5276088"/>
            <a:ext cx="411480" cy="411480"/>
          </a:xfrm>
          <a:prstGeom prst="rect">
            <a:avLst/>
          </a:prstGeom>
        </p:spPr>
      </p:pic>
      <p:sp>
        <p:nvSpPr>
          <p:cNvPr id="16" name="Text 0"/>
          <p:cNvSpPr/>
          <p:nvPr/>
        </p:nvSpPr>
        <p:spPr>
          <a:xfrm>
            <a:off x="5806440" y="1481328"/>
            <a:ext cx="8010144" cy="594360"/>
          </a:xfrm>
          <a:prstGeom prst="rect">
            <a:avLst/>
          </a:prstGeom>
          <a:noFill/>
          <a:ln/>
        </p:spPr>
        <p:txBody>
          <a:bodyPr wrap="non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Sales Dashboard</a:t>
            </a:r>
            <a:endParaRPr lang="en-US" sz="3710" dirty="0"/>
          </a:p>
        </p:txBody>
      </p:sp>
      <p:sp>
        <p:nvSpPr>
          <p:cNvPr id="17" name="Text 1"/>
          <p:cNvSpPr/>
          <p:nvPr/>
        </p:nvSpPr>
        <p:spPr>
          <a:xfrm>
            <a:off x="5806440" y="2276856"/>
            <a:ext cx="8010144"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Purpose: Provides a high-level overview of company performance, showing total sales, profit, and revenue trends.</a:t>
            </a:r>
            <a:endParaRPr lang="en-US" sz="1480" dirty="0"/>
          </a:p>
        </p:txBody>
      </p:sp>
      <p:sp>
        <p:nvSpPr>
          <p:cNvPr id="18" name="Text 2"/>
          <p:cNvSpPr/>
          <p:nvPr/>
        </p:nvSpPr>
        <p:spPr>
          <a:xfrm>
            <a:off x="5806440" y="2962656"/>
            <a:ext cx="8010144"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Key Benefits:</a:t>
            </a:r>
            <a:endParaRPr lang="en-US" sz="1480" dirty="0"/>
          </a:p>
        </p:txBody>
      </p:sp>
      <p:sp>
        <p:nvSpPr>
          <p:cNvPr id="19" name="Text 3"/>
          <p:cNvSpPr/>
          <p:nvPr/>
        </p:nvSpPr>
        <p:spPr>
          <a:xfrm>
            <a:off x="6163056" y="3666744"/>
            <a:ext cx="109728"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1</a:t>
            </a:r>
            <a:endParaRPr lang="en-US" sz="1850" dirty="0"/>
          </a:p>
        </p:txBody>
      </p:sp>
      <p:sp>
        <p:nvSpPr>
          <p:cNvPr id="20" name="Text 4"/>
          <p:cNvSpPr/>
          <p:nvPr/>
        </p:nvSpPr>
        <p:spPr>
          <a:xfrm>
            <a:off x="6025896" y="4197096"/>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 KPI Cards: Total Sales ($77.5M), Net Profit ($1M), Total Orders (3616)</a:t>
            </a:r>
            <a:endParaRPr lang="en-US" sz="1480" dirty="0"/>
          </a:p>
        </p:txBody>
      </p:sp>
      <p:sp>
        <p:nvSpPr>
          <p:cNvPr id="21" name="Text 5"/>
          <p:cNvSpPr/>
          <p:nvPr/>
        </p:nvSpPr>
        <p:spPr>
          <a:xfrm>
            <a:off x="6135624" y="5330952"/>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3</a:t>
            </a:r>
            <a:endParaRPr lang="en-US" sz="1850" dirty="0"/>
          </a:p>
        </p:txBody>
      </p:sp>
      <p:sp>
        <p:nvSpPr>
          <p:cNvPr id="22" name="Text 6"/>
          <p:cNvSpPr/>
          <p:nvPr/>
        </p:nvSpPr>
        <p:spPr>
          <a:xfrm>
            <a:off x="6025896" y="5861304"/>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Identifies top-selling products and seasonal patterns.</a:t>
            </a:r>
            <a:endParaRPr lang="en-US" sz="1480" dirty="0"/>
          </a:p>
        </p:txBody>
      </p:sp>
      <p:sp>
        <p:nvSpPr>
          <p:cNvPr id="23" name="Text 7"/>
          <p:cNvSpPr/>
          <p:nvPr/>
        </p:nvSpPr>
        <p:spPr>
          <a:xfrm>
            <a:off x="10241280" y="3666744"/>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2</a:t>
            </a:r>
            <a:endParaRPr lang="en-US" sz="1850" dirty="0"/>
          </a:p>
        </p:txBody>
      </p:sp>
      <p:sp>
        <p:nvSpPr>
          <p:cNvPr id="24" name="Text 8"/>
          <p:cNvSpPr/>
          <p:nvPr/>
        </p:nvSpPr>
        <p:spPr>
          <a:xfrm>
            <a:off x="10122408" y="4197096"/>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Supports data-driven pricing and sales strategies.</a:t>
            </a:r>
            <a:endParaRPr lang="en-US" sz="1480" dirty="0"/>
          </a:p>
        </p:txBody>
      </p:sp>
      <p:sp>
        <p:nvSpPr>
          <p:cNvPr id="25" name="Text 9"/>
          <p:cNvSpPr/>
          <p:nvPr/>
        </p:nvSpPr>
        <p:spPr>
          <a:xfrm>
            <a:off x="10232136" y="5330952"/>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4</a:t>
            </a:r>
            <a:endParaRPr lang="en-US" sz="1850" dirty="0"/>
          </a:p>
        </p:txBody>
      </p:sp>
      <p:sp>
        <p:nvSpPr>
          <p:cNvPr id="26" name="Text 10"/>
          <p:cNvSpPr/>
          <p:nvPr/>
        </p:nvSpPr>
        <p:spPr>
          <a:xfrm>
            <a:off x="10122408" y="5861304"/>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Highlights revenue growth across time periods.</a:t>
            </a:r>
            <a:endParaRPr lang="en-US" sz="14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2130552" y="1609344"/>
            <a:ext cx="10387584" cy="5705856"/>
          </a:xfrm>
          <a:prstGeom prst="rect">
            <a:avLst/>
          </a:prstGeom>
        </p:spPr>
      </p:pic>
      <p:sp>
        <p:nvSpPr>
          <p:cNvPr id="4" name="Text 0"/>
          <p:cNvSpPr/>
          <p:nvPr/>
        </p:nvSpPr>
        <p:spPr>
          <a:xfrm>
            <a:off x="832104" y="932688"/>
            <a:ext cx="12984480" cy="475488"/>
          </a:xfrm>
          <a:prstGeom prst="rect">
            <a:avLst/>
          </a:prstGeom>
          <a:noFill/>
          <a:ln/>
        </p:spPr>
        <p:txBody>
          <a:bodyPr wrap="none" lIns="0" tIns="0" rIns="0" bIns="0" rtlCol="0" anchor="ctr"/>
          <a:lstStyle/>
          <a:p>
            <a:pPr algn="ctr" indent="0" marL="0">
              <a:lnSpc>
                <a:spcPts val="3710"/>
              </a:lnSpc>
              <a:buNone/>
            </a:pPr>
            <a:r>
              <a:rPr lang="en-US" sz="2970" b="1" dirty="0">
                <a:solidFill>
                  <a:srgbClr val="3F4460"/>
                </a:solidFill>
                <a:latin typeface="思源宋体-思源宋体-Heavy" pitchFamily="34" charset="0"/>
                <a:ea typeface="思源宋体-思源宋体-Heavy" pitchFamily="34" charset="-122"/>
                <a:cs typeface="思源宋体-思源宋体-Heavy" pitchFamily="34" charset="-120"/>
              </a:rPr>
              <a:t>Team Performance &amp; Targets Dashboard</a:t>
            </a:r>
            <a:endParaRPr lang="en-US" sz="297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4974336" cy="8238744"/>
          </a:xfrm>
          <a:prstGeom prst="rect">
            <a:avLst/>
          </a:prstGeom>
        </p:spPr>
      </p:pic>
      <p:pic>
        <p:nvPicPr>
          <p:cNvPr id="4" name="Image 2" descr="preencoded.png">    </p:cNvPr>
          <p:cNvPicPr>
            <a:picLocks noChangeAspect="1"/>
          </p:cNvPicPr>
          <p:nvPr/>
        </p:nvPicPr>
        <p:blipFill>
          <a:blip r:embed="rId3"/>
          <a:stretch>
            <a:fillRect/>
          </a:stretch>
        </p:blipFill>
        <p:spPr>
          <a:xfrm>
            <a:off x="5806440" y="3483864"/>
            <a:ext cx="3913632" cy="1481328"/>
          </a:xfrm>
          <a:prstGeom prst="rect">
            <a:avLst/>
          </a:prstGeom>
        </p:spPr>
      </p:pic>
      <p:pic>
        <p:nvPicPr>
          <p:cNvPr id="5" name="Image 3" descr="preencoded.png">    </p:cNvPr>
          <p:cNvPicPr>
            <a:picLocks noChangeAspect="1"/>
          </p:cNvPicPr>
          <p:nvPr/>
        </p:nvPicPr>
        <p:blipFill>
          <a:blip r:embed="rId4"/>
          <a:stretch>
            <a:fillRect/>
          </a:stretch>
        </p:blipFill>
        <p:spPr>
          <a:xfrm>
            <a:off x="5806440" y="5148072"/>
            <a:ext cx="3913632" cy="1481328"/>
          </a:xfrm>
          <a:prstGeom prst="rect">
            <a:avLst/>
          </a:prstGeom>
        </p:spPr>
      </p:pic>
      <p:pic>
        <p:nvPicPr>
          <p:cNvPr id="6" name="Image 4" descr="preencoded.png">    </p:cNvPr>
          <p:cNvPicPr>
            <a:picLocks noChangeAspect="1"/>
          </p:cNvPicPr>
          <p:nvPr/>
        </p:nvPicPr>
        <p:blipFill>
          <a:blip r:embed="rId5"/>
          <a:stretch>
            <a:fillRect/>
          </a:stretch>
        </p:blipFill>
        <p:spPr>
          <a:xfrm>
            <a:off x="9902952" y="3483864"/>
            <a:ext cx="3913632" cy="1481328"/>
          </a:xfrm>
          <a:prstGeom prst="rect">
            <a:avLst/>
          </a:prstGeom>
        </p:spPr>
      </p:pic>
      <p:pic>
        <p:nvPicPr>
          <p:cNvPr id="7" name="Image 5" descr="preencoded.png">    </p:cNvPr>
          <p:cNvPicPr>
            <a:picLocks noChangeAspect="1"/>
          </p:cNvPicPr>
          <p:nvPr/>
        </p:nvPicPr>
        <p:blipFill>
          <a:blip r:embed="rId6"/>
          <a:stretch>
            <a:fillRect/>
          </a:stretch>
        </p:blipFill>
        <p:spPr>
          <a:xfrm>
            <a:off x="9902952" y="5148072"/>
            <a:ext cx="3913632" cy="1481328"/>
          </a:xfrm>
          <a:prstGeom prst="rect">
            <a:avLst/>
          </a:prstGeom>
        </p:spPr>
      </p:pic>
      <p:pic>
        <p:nvPicPr>
          <p:cNvPr id="8" name="Image 6" descr="preencoded.png">    </p:cNvPr>
          <p:cNvPicPr>
            <a:picLocks noChangeAspect="1"/>
          </p:cNvPicPr>
          <p:nvPr/>
        </p:nvPicPr>
        <p:blipFill>
          <a:blip r:embed="rId7"/>
          <a:stretch>
            <a:fillRect/>
          </a:stretch>
        </p:blipFill>
        <p:spPr>
          <a:xfrm>
            <a:off x="6025896" y="4270248"/>
            <a:ext cx="3474720" cy="475488"/>
          </a:xfrm>
          <a:prstGeom prst="rect">
            <a:avLst/>
          </a:prstGeom>
        </p:spPr>
      </p:pic>
      <p:pic>
        <p:nvPicPr>
          <p:cNvPr id="9" name="Image 7" descr="preencoded.png">    </p:cNvPr>
          <p:cNvPicPr>
            <a:picLocks noChangeAspect="1"/>
          </p:cNvPicPr>
          <p:nvPr/>
        </p:nvPicPr>
        <p:blipFill>
          <a:blip r:embed="rId8"/>
          <a:stretch>
            <a:fillRect/>
          </a:stretch>
        </p:blipFill>
        <p:spPr>
          <a:xfrm>
            <a:off x="6025896" y="5934456"/>
            <a:ext cx="3474720" cy="475488"/>
          </a:xfrm>
          <a:prstGeom prst="rect">
            <a:avLst/>
          </a:prstGeom>
        </p:spPr>
      </p:pic>
      <p:pic>
        <p:nvPicPr>
          <p:cNvPr id="10" name="Image 8" descr="preencoded.png">    </p:cNvPr>
          <p:cNvPicPr>
            <a:picLocks noChangeAspect="1"/>
          </p:cNvPicPr>
          <p:nvPr/>
        </p:nvPicPr>
        <p:blipFill>
          <a:blip r:embed="rId9"/>
          <a:stretch>
            <a:fillRect/>
          </a:stretch>
        </p:blipFill>
        <p:spPr>
          <a:xfrm>
            <a:off x="10122408" y="4270248"/>
            <a:ext cx="3474720" cy="475488"/>
          </a:xfrm>
          <a:prstGeom prst="rect">
            <a:avLst/>
          </a:prstGeom>
        </p:spPr>
      </p:pic>
      <p:pic>
        <p:nvPicPr>
          <p:cNvPr id="11" name="Image 9" descr="preencoded.png">    </p:cNvPr>
          <p:cNvPicPr>
            <a:picLocks noChangeAspect="1"/>
          </p:cNvPicPr>
          <p:nvPr/>
        </p:nvPicPr>
        <p:blipFill>
          <a:blip r:embed="rId10"/>
          <a:stretch>
            <a:fillRect/>
          </a:stretch>
        </p:blipFill>
        <p:spPr>
          <a:xfrm>
            <a:off x="10122408" y="5934456"/>
            <a:ext cx="3474720" cy="475488"/>
          </a:xfrm>
          <a:prstGeom prst="rect">
            <a:avLst/>
          </a:prstGeom>
        </p:spPr>
      </p:pic>
      <p:pic>
        <p:nvPicPr>
          <p:cNvPr id="12" name="Image 10" descr="preencoded.png">    </p:cNvPr>
          <p:cNvPicPr>
            <a:picLocks noChangeAspect="1"/>
          </p:cNvPicPr>
          <p:nvPr/>
        </p:nvPicPr>
        <p:blipFill>
          <a:blip r:embed="rId11"/>
          <a:stretch>
            <a:fillRect/>
          </a:stretch>
        </p:blipFill>
        <p:spPr>
          <a:xfrm>
            <a:off x="6007608" y="3685032"/>
            <a:ext cx="411480" cy="411480"/>
          </a:xfrm>
          <a:prstGeom prst="rect">
            <a:avLst/>
          </a:prstGeom>
        </p:spPr>
      </p:pic>
      <p:pic>
        <p:nvPicPr>
          <p:cNvPr id="13" name="Image 11" descr="preencoded.png">    </p:cNvPr>
          <p:cNvPicPr>
            <a:picLocks noChangeAspect="1"/>
          </p:cNvPicPr>
          <p:nvPr/>
        </p:nvPicPr>
        <p:blipFill>
          <a:blip r:embed="rId12"/>
          <a:stretch>
            <a:fillRect/>
          </a:stretch>
        </p:blipFill>
        <p:spPr>
          <a:xfrm>
            <a:off x="6007608" y="5349240"/>
            <a:ext cx="411480" cy="411480"/>
          </a:xfrm>
          <a:prstGeom prst="rect">
            <a:avLst/>
          </a:prstGeom>
        </p:spPr>
      </p:pic>
      <p:pic>
        <p:nvPicPr>
          <p:cNvPr id="14" name="Image 12" descr="preencoded.png">    </p:cNvPr>
          <p:cNvPicPr>
            <a:picLocks noChangeAspect="1"/>
          </p:cNvPicPr>
          <p:nvPr/>
        </p:nvPicPr>
        <p:blipFill>
          <a:blip r:embed="rId13"/>
          <a:stretch>
            <a:fillRect/>
          </a:stretch>
        </p:blipFill>
        <p:spPr>
          <a:xfrm>
            <a:off x="10104120" y="3685032"/>
            <a:ext cx="411480" cy="411480"/>
          </a:xfrm>
          <a:prstGeom prst="rect">
            <a:avLst/>
          </a:prstGeom>
        </p:spPr>
      </p:pic>
      <p:pic>
        <p:nvPicPr>
          <p:cNvPr id="15" name="Image 13" descr="preencoded.png">    </p:cNvPr>
          <p:cNvPicPr>
            <a:picLocks noChangeAspect="1"/>
          </p:cNvPicPr>
          <p:nvPr/>
        </p:nvPicPr>
        <p:blipFill>
          <a:blip r:embed="rId14"/>
          <a:stretch>
            <a:fillRect/>
          </a:stretch>
        </p:blipFill>
        <p:spPr>
          <a:xfrm>
            <a:off x="10104120" y="5349240"/>
            <a:ext cx="411480" cy="411480"/>
          </a:xfrm>
          <a:prstGeom prst="rect">
            <a:avLst/>
          </a:prstGeom>
        </p:spPr>
      </p:pic>
      <p:sp>
        <p:nvSpPr>
          <p:cNvPr id="16" name="Text 0"/>
          <p:cNvSpPr/>
          <p:nvPr/>
        </p:nvSpPr>
        <p:spPr>
          <a:xfrm>
            <a:off x="5806440" y="960120"/>
            <a:ext cx="8010144" cy="1188720"/>
          </a:xfrm>
          <a:prstGeom prst="rect">
            <a:avLst/>
          </a:prstGeom>
          <a:noFill/>
          <a:ln/>
        </p:spPr>
        <p:txBody>
          <a:bodyPr wrap="squar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Team Performance &amp; Targets Dashboard</a:t>
            </a:r>
            <a:endParaRPr lang="en-US" sz="3710" dirty="0"/>
          </a:p>
        </p:txBody>
      </p:sp>
      <p:sp>
        <p:nvSpPr>
          <p:cNvPr id="17" name="Text 1"/>
          <p:cNvSpPr/>
          <p:nvPr/>
        </p:nvSpPr>
        <p:spPr>
          <a:xfrm>
            <a:off x="5806440" y="2350008"/>
            <a:ext cx="8010144"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Purpose: Evaluates the performance of individual salespeople and their achievement against targets.</a:t>
            </a:r>
            <a:endParaRPr lang="en-US" sz="1480" dirty="0"/>
          </a:p>
        </p:txBody>
      </p:sp>
      <p:sp>
        <p:nvSpPr>
          <p:cNvPr id="18" name="Text 2"/>
          <p:cNvSpPr/>
          <p:nvPr/>
        </p:nvSpPr>
        <p:spPr>
          <a:xfrm>
            <a:off x="5806440" y="3035808"/>
            <a:ext cx="8010144"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Key Benefits:</a:t>
            </a:r>
            <a:endParaRPr lang="en-US" sz="1480" dirty="0"/>
          </a:p>
        </p:txBody>
      </p:sp>
      <p:sp>
        <p:nvSpPr>
          <p:cNvPr id="19" name="Text 3"/>
          <p:cNvSpPr/>
          <p:nvPr/>
        </p:nvSpPr>
        <p:spPr>
          <a:xfrm>
            <a:off x="6163056" y="3730752"/>
            <a:ext cx="109728"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1</a:t>
            </a:r>
            <a:endParaRPr lang="en-US" sz="1850" dirty="0"/>
          </a:p>
        </p:txBody>
      </p:sp>
      <p:sp>
        <p:nvSpPr>
          <p:cNvPr id="20" name="Text 4"/>
          <p:cNvSpPr/>
          <p:nvPr/>
        </p:nvSpPr>
        <p:spPr>
          <a:xfrm>
            <a:off x="6025896" y="4270248"/>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Monitors team and individual target achievements.</a:t>
            </a:r>
            <a:endParaRPr lang="en-US" sz="1480" dirty="0"/>
          </a:p>
        </p:txBody>
      </p:sp>
      <p:sp>
        <p:nvSpPr>
          <p:cNvPr id="21" name="Text 5"/>
          <p:cNvSpPr/>
          <p:nvPr/>
        </p:nvSpPr>
        <p:spPr>
          <a:xfrm>
            <a:off x="6135624" y="5394960"/>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3</a:t>
            </a:r>
            <a:endParaRPr lang="en-US" sz="1850" dirty="0"/>
          </a:p>
        </p:txBody>
      </p:sp>
      <p:sp>
        <p:nvSpPr>
          <p:cNvPr id="22" name="Text 6"/>
          <p:cNvSpPr/>
          <p:nvPr/>
        </p:nvSpPr>
        <p:spPr>
          <a:xfrm>
            <a:off x="6025896" y="5934456"/>
            <a:ext cx="3474720"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Helps track monthly goal progress.</a:t>
            </a:r>
            <a:endParaRPr lang="en-US" sz="1480" dirty="0"/>
          </a:p>
        </p:txBody>
      </p:sp>
      <p:sp>
        <p:nvSpPr>
          <p:cNvPr id="23" name="Text 7"/>
          <p:cNvSpPr/>
          <p:nvPr/>
        </p:nvSpPr>
        <p:spPr>
          <a:xfrm>
            <a:off x="5806440" y="6830568"/>
            <a:ext cx="8010144"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24" name="Text 8"/>
          <p:cNvSpPr/>
          <p:nvPr/>
        </p:nvSpPr>
        <p:spPr>
          <a:xfrm>
            <a:off x="10241280" y="3730752"/>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2</a:t>
            </a:r>
            <a:endParaRPr lang="en-US" sz="1850" dirty="0"/>
          </a:p>
        </p:txBody>
      </p:sp>
      <p:sp>
        <p:nvSpPr>
          <p:cNvPr id="25" name="Text 9"/>
          <p:cNvSpPr/>
          <p:nvPr/>
        </p:nvSpPr>
        <p:spPr>
          <a:xfrm>
            <a:off x="10122408" y="4270248"/>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Identifies top-performing and underperforming salespeople.</a:t>
            </a:r>
            <a:endParaRPr lang="en-US" sz="1480" dirty="0"/>
          </a:p>
        </p:txBody>
      </p:sp>
      <p:sp>
        <p:nvSpPr>
          <p:cNvPr id="26" name="Text 10"/>
          <p:cNvSpPr/>
          <p:nvPr/>
        </p:nvSpPr>
        <p:spPr>
          <a:xfrm>
            <a:off x="10232136" y="5394960"/>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4</a:t>
            </a:r>
            <a:endParaRPr lang="en-US" sz="1850" dirty="0"/>
          </a:p>
        </p:txBody>
      </p:sp>
      <p:sp>
        <p:nvSpPr>
          <p:cNvPr id="27" name="Text 11"/>
          <p:cNvSpPr/>
          <p:nvPr/>
        </p:nvSpPr>
        <p:spPr>
          <a:xfrm>
            <a:off x="10122408" y="5934456"/>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Improves performance evaluation and motivation.</a:t>
            </a:r>
            <a:endParaRPr lang="en-US" sz="14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2130552" y="1554480"/>
            <a:ext cx="10387584" cy="5815584"/>
          </a:xfrm>
          <a:prstGeom prst="rect">
            <a:avLst/>
          </a:prstGeom>
        </p:spPr>
      </p:pic>
      <p:sp>
        <p:nvSpPr>
          <p:cNvPr id="4" name="Text 0"/>
          <p:cNvSpPr/>
          <p:nvPr/>
        </p:nvSpPr>
        <p:spPr>
          <a:xfrm>
            <a:off x="832104" y="868680"/>
            <a:ext cx="12984480" cy="475488"/>
          </a:xfrm>
          <a:prstGeom prst="rect">
            <a:avLst/>
          </a:prstGeom>
          <a:noFill/>
          <a:ln/>
        </p:spPr>
        <p:txBody>
          <a:bodyPr wrap="none" lIns="0" tIns="0" rIns="0" bIns="0" rtlCol="0" anchor="ctr"/>
          <a:lstStyle/>
          <a:p>
            <a:pPr algn="ctr" indent="0" marL="0">
              <a:lnSpc>
                <a:spcPts val="3710"/>
              </a:lnSpc>
              <a:buNone/>
            </a:pPr>
            <a:r>
              <a:rPr lang="en-US" sz="2970" b="1" dirty="0">
                <a:solidFill>
                  <a:srgbClr val="3F4460"/>
                </a:solidFill>
                <a:latin typeface="思源宋体-思源宋体-Heavy" pitchFamily="34" charset="0"/>
                <a:ea typeface="思源宋体-思源宋体-Heavy" pitchFamily="34" charset="-122"/>
                <a:cs typeface="思源宋体-思源宋体-Heavy" pitchFamily="34" charset="-120"/>
              </a:rPr>
              <a:t>Reseller &amp; Customer Dashboard</a:t>
            </a:r>
            <a:endParaRPr lang="en-US" sz="297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4974336" cy="8238744"/>
          </a:xfrm>
          <a:prstGeom prst="rect">
            <a:avLst/>
          </a:prstGeom>
        </p:spPr>
      </p:pic>
      <p:pic>
        <p:nvPicPr>
          <p:cNvPr id="4" name="Image 2" descr="preencoded.png">    </p:cNvPr>
          <p:cNvPicPr>
            <a:picLocks noChangeAspect="1"/>
          </p:cNvPicPr>
          <p:nvPr/>
        </p:nvPicPr>
        <p:blipFill>
          <a:blip r:embed="rId3"/>
          <a:stretch>
            <a:fillRect/>
          </a:stretch>
        </p:blipFill>
        <p:spPr>
          <a:xfrm>
            <a:off x="5806440" y="3410712"/>
            <a:ext cx="3913632" cy="1481328"/>
          </a:xfrm>
          <a:prstGeom prst="rect">
            <a:avLst/>
          </a:prstGeom>
        </p:spPr>
      </p:pic>
      <p:pic>
        <p:nvPicPr>
          <p:cNvPr id="5" name="Image 3" descr="preencoded.png">    </p:cNvPr>
          <p:cNvPicPr>
            <a:picLocks noChangeAspect="1"/>
          </p:cNvPicPr>
          <p:nvPr/>
        </p:nvPicPr>
        <p:blipFill>
          <a:blip r:embed="rId4"/>
          <a:stretch>
            <a:fillRect/>
          </a:stretch>
        </p:blipFill>
        <p:spPr>
          <a:xfrm>
            <a:off x="5806440" y="5074920"/>
            <a:ext cx="3913632" cy="1481328"/>
          </a:xfrm>
          <a:prstGeom prst="rect">
            <a:avLst/>
          </a:prstGeom>
        </p:spPr>
      </p:pic>
      <p:pic>
        <p:nvPicPr>
          <p:cNvPr id="6" name="Image 4" descr="preencoded.png">    </p:cNvPr>
          <p:cNvPicPr>
            <a:picLocks noChangeAspect="1"/>
          </p:cNvPicPr>
          <p:nvPr/>
        </p:nvPicPr>
        <p:blipFill>
          <a:blip r:embed="rId5"/>
          <a:stretch>
            <a:fillRect/>
          </a:stretch>
        </p:blipFill>
        <p:spPr>
          <a:xfrm>
            <a:off x="9902952" y="3410712"/>
            <a:ext cx="3913632" cy="1481328"/>
          </a:xfrm>
          <a:prstGeom prst="rect">
            <a:avLst/>
          </a:prstGeom>
        </p:spPr>
      </p:pic>
      <p:pic>
        <p:nvPicPr>
          <p:cNvPr id="7" name="Image 5" descr="preencoded.png">    </p:cNvPr>
          <p:cNvPicPr>
            <a:picLocks noChangeAspect="1"/>
          </p:cNvPicPr>
          <p:nvPr/>
        </p:nvPicPr>
        <p:blipFill>
          <a:blip r:embed="rId6"/>
          <a:stretch>
            <a:fillRect/>
          </a:stretch>
        </p:blipFill>
        <p:spPr>
          <a:xfrm>
            <a:off x="9902952" y="5074920"/>
            <a:ext cx="3913632" cy="1481328"/>
          </a:xfrm>
          <a:prstGeom prst="rect">
            <a:avLst/>
          </a:prstGeom>
        </p:spPr>
      </p:pic>
      <p:pic>
        <p:nvPicPr>
          <p:cNvPr id="8" name="Image 6" descr="preencoded.png">    </p:cNvPr>
          <p:cNvPicPr>
            <a:picLocks noChangeAspect="1"/>
          </p:cNvPicPr>
          <p:nvPr/>
        </p:nvPicPr>
        <p:blipFill>
          <a:blip r:embed="rId7"/>
          <a:stretch>
            <a:fillRect/>
          </a:stretch>
        </p:blipFill>
        <p:spPr>
          <a:xfrm>
            <a:off x="6025896" y="4197096"/>
            <a:ext cx="3474720" cy="475488"/>
          </a:xfrm>
          <a:prstGeom prst="rect">
            <a:avLst/>
          </a:prstGeom>
        </p:spPr>
      </p:pic>
      <p:pic>
        <p:nvPicPr>
          <p:cNvPr id="9" name="Image 7" descr="preencoded.png">    </p:cNvPr>
          <p:cNvPicPr>
            <a:picLocks noChangeAspect="1"/>
          </p:cNvPicPr>
          <p:nvPr/>
        </p:nvPicPr>
        <p:blipFill>
          <a:blip r:embed="rId8"/>
          <a:stretch>
            <a:fillRect/>
          </a:stretch>
        </p:blipFill>
        <p:spPr>
          <a:xfrm>
            <a:off x="6025896" y="5861304"/>
            <a:ext cx="3474720" cy="475488"/>
          </a:xfrm>
          <a:prstGeom prst="rect">
            <a:avLst/>
          </a:prstGeom>
        </p:spPr>
      </p:pic>
      <p:pic>
        <p:nvPicPr>
          <p:cNvPr id="10" name="Image 8" descr="preencoded.png">    </p:cNvPr>
          <p:cNvPicPr>
            <a:picLocks noChangeAspect="1"/>
          </p:cNvPicPr>
          <p:nvPr/>
        </p:nvPicPr>
        <p:blipFill>
          <a:blip r:embed="rId9"/>
          <a:stretch>
            <a:fillRect/>
          </a:stretch>
        </p:blipFill>
        <p:spPr>
          <a:xfrm>
            <a:off x="10122408" y="4197096"/>
            <a:ext cx="3474720" cy="475488"/>
          </a:xfrm>
          <a:prstGeom prst="rect">
            <a:avLst/>
          </a:prstGeom>
        </p:spPr>
      </p:pic>
      <p:pic>
        <p:nvPicPr>
          <p:cNvPr id="11" name="Image 9" descr="preencoded.png">    </p:cNvPr>
          <p:cNvPicPr>
            <a:picLocks noChangeAspect="1"/>
          </p:cNvPicPr>
          <p:nvPr/>
        </p:nvPicPr>
        <p:blipFill>
          <a:blip r:embed="rId10"/>
          <a:stretch>
            <a:fillRect/>
          </a:stretch>
        </p:blipFill>
        <p:spPr>
          <a:xfrm>
            <a:off x="10122408" y="5861304"/>
            <a:ext cx="3474720" cy="475488"/>
          </a:xfrm>
          <a:prstGeom prst="rect">
            <a:avLst/>
          </a:prstGeom>
        </p:spPr>
      </p:pic>
      <p:pic>
        <p:nvPicPr>
          <p:cNvPr id="12" name="Image 10" descr="preencoded.png">    </p:cNvPr>
          <p:cNvPicPr>
            <a:picLocks noChangeAspect="1"/>
          </p:cNvPicPr>
          <p:nvPr/>
        </p:nvPicPr>
        <p:blipFill>
          <a:blip r:embed="rId11"/>
          <a:stretch>
            <a:fillRect/>
          </a:stretch>
        </p:blipFill>
        <p:spPr>
          <a:xfrm>
            <a:off x="6007608" y="3611880"/>
            <a:ext cx="411480" cy="411480"/>
          </a:xfrm>
          <a:prstGeom prst="rect">
            <a:avLst/>
          </a:prstGeom>
        </p:spPr>
      </p:pic>
      <p:pic>
        <p:nvPicPr>
          <p:cNvPr id="13" name="Image 11" descr="preencoded.png">    </p:cNvPr>
          <p:cNvPicPr>
            <a:picLocks noChangeAspect="1"/>
          </p:cNvPicPr>
          <p:nvPr/>
        </p:nvPicPr>
        <p:blipFill>
          <a:blip r:embed="rId12"/>
          <a:stretch>
            <a:fillRect/>
          </a:stretch>
        </p:blipFill>
        <p:spPr>
          <a:xfrm>
            <a:off x="6007608" y="5276088"/>
            <a:ext cx="411480" cy="411480"/>
          </a:xfrm>
          <a:prstGeom prst="rect">
            <a:avLst/>
          </a:prstGeom>
        </p:spPr>
      </p:pic>
      <p:pic>
        <p:nvPicPr>
          <p:cNvPr id="14" name="Image 12" descr="preencoded.png">    </p:cNvPr>
          <p:cNvPicPr>
            <a:picLocks noChangeAspect="1"/>
          </p:cNvPicPr>
          <p:nvPr/>
        </p:nvPicPr>
        <p:blipFill>
          <a:blip r:embed="rId13"/>
          <a:stretch>
            <a:fillRect/>
          </a:stretch>
        </p:blipFill>
        <p:spPr>
          <a:xfrm>
            <a:off x="10104120" y="3611880"/>
            <a:ext cx="411480" cy="411480"/>
          </a:xfrm>
          <a:prstGeom prst="rect">
            <a:avLst/>
          </a:prstGeom>
        </p:spPr>
      </p:pic>
      <p:pic>
        <p:nvPicPr>
          <p:cNvPr id="15" name="Image 13" descr="preencoded.png">    </p:cNvPr>
          <p:cNvPicPr>
            <a:picLocks noChangeAspect="1"/>
          </p:cNvPicPr>
          <p:nvPr/>
        </p:nvPicPr>
        <p:blipFill>
          <a:blip r:embed="rId14"/>
          <a:stretch>
            <a:fillRect/>
          </a:stretch>
        </p:blipFill>
        <p:spPr>
          <a:xfrm>
            <a:off x="10104120" y="5276088"/>
            <a:ext cx="411480" cy="411480"/>
          </a:xfrm>
          <a:prstGeom prst="rect">
            <a:avLst/>
          </a:prstGeom>
        </p:spPr>
      </p:pic>
      <p:sp>
        <p:nvSpPr>
          <p:cNvPr id="16" name="Text 0"/>
          <p:cNvSpPr/>
          <p:nvPr/>
        </p:nvSpPr>
        <p:spPr>
          <a:xfrm>
            <a:off x="5806440" y="1481328"/>
            <a:ext cx="8010144" cy="594360"/>
          </a:xfrm>
          <a:prstGeom prst="rect">
            <a:avLst/>
          </a:prstGeom>
          <a:noFill/>
          <a:ln/>
        </p:spPr>
        <p:txBody>
          <a:bodyPr wrap="non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Reseller &amp; Customer Dashboard</a:t>
            </a:r>
            <a:endParaRPr lang="en-US" sz="3710" dirty="0"/>
          </a:p>
        </p:txBody>
      </p:sp>
      <p:sp>
        <p:nvSpPr>
          <p:cNvPr id="17" name="Text 1"/>
          <p:cNvSpPr/>
          <p:nvPr/>
        </p:nvSpPr>
        <p:spPr>
          <a:xfrm>
            <a:off x="5806440" y="2276856"/>
            <a:ext cx="8010144"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Purpose: Analyzes performance across business partners (resellers) and customer segments to understand market reach and efficiency.</a:t>
            </a:r>
            <a:endParaRPr lang="en-US" sz="1480" dirty="0"/>
          </a:p>
        </p:txBody>
      </p:sp>
      <p:sp>
        <p:nvSpPr>
          <p:cNvPr id="18" name="Text 2"/>
          <p:cNvSpPr/>
          <p:nvPr/>
        </p:nvSpPr>
        <p:spPr>
          <a:xfrm>
            <a:off x="5806440" y="2962656"/>
            <a:ext cx="8010144"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Key Benefits:</a:t>
            </a:r>
            <a:endParaRPr lang="en-US" sz="1480" dirty="0"/>
          </a:p>
        </p:txBody>
      </p:sp>
      <p:sp>
        <p:nvSpPr>
          <p:cNvPr id="19" name="Text 3"/>
          <p:cNvSpPr/>
          <p:nvPr/>
        </p:nvSpPr>
        <p:spPr>
          <a:xfrm>
            <a:off x="6163056" y="3666744"/>
            <a:ext cx="109728"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1</a:t>
            </a:r>
            <a:endParaRPr lang="en-US" sz="1850" dirty="0"/>
          </a:p>
        </p:txBody>
      </p:sp>
      <p:sp>
        <p:nvSpPr>
          <p:cNvPr id="20" name="Text 4"/>
          <p:cNvSpPr/>
          <p:nvPr/>
        </p:nvSpPr>
        <p:spPr>
          <a:xfrm>
            <a:off x="6025896" y="4197096"/>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Analyzes reseller and customer contributions to total sales.</a:t>
            </a:r>
            <a:endParaRPr lang="en-US" sz="1480" dirty="0"/>
          </a:p>
        </p:txBody>
      </p:sp>
      <p:sp>
        <p:nvSpPr>
          <p:cNvPr id="21" name="Text 5"/>
          <p:cNvSpPr/>
          <p:nvPr/>
        </p:nvSpPr>
        <p:spPr>
          <a:xfrm>
            <a:off x="6135624" y="5330952"/>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3</a:t>
            </a:r>
            <a:endParaRPr lang="en-US" sz="1850" dirty="0"/>
          </a:p>
        </p:txBody>
      </p:sp>
      <p:sp>
        <p:nvSpPr>
          <p:cNvPr id="22" name="Text 6"/>
          <p:cNvSpPr/>
          <p:nvPr/>
        </p:nvSpPr>
        <p:spPr>
          <a:xfrm>
            <a:off x="6025896" y="5861304"/>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Tracks customer purchase behavior and loyalty.</a:t>
            </a:r>
            <a:endParaRPr lang="en-US" sz="1480" dirty="0"/>
          </a:p>
        </p:txBody>
      </p:sp>
      <p:sp>
        <p:nvSpPr>
          <p:cNvPr id="23" name="Text 7"/>
          <p:cNvSpPr/>
          <p:nvPr/>
        </p:nvSpPr>
        <p:spPr>
          <a:xfrm>
            <a:off x="10241280" y="3666744"/>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2</a:t>
            </a:r>
            <a:endParaRPr lang="en-US" sz="1850" dirty="0"/>
          </a:p>
        </p:txBody>
      </p:sp>
      <p:sp>
        <p:nvSpPr>
          <p:cNvPr id="24" name="Text 8"/>
          <p:cNvSpPr/>
          <p:nvPr/>
        </p:nvSpPr>
        <p:spPr>
          <a:xfrm>
            <a:off x="10122408" y="4197096"/>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Identifies top-performing partners and regions.</a:t>
            </a:r>
            <a:endParaRPr lang="en-US" sz="1480" dirty="0"/>
          </a:p>
        </p:txBody>
      </p:sp>
      <p:sp>
        <p:nvSpPr>
          <p:cNvPr id="25" name="Text 9"/>
          <p:cNvSpPr/>
          <p:nvPr/>
        </p:nvSpPr>
        <p:spPr>
          <a:xfrm>
            <a:off x="10232136" y="5330952"/>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4</a:t>
            </a:r>
            <a:endParaRPr lang="en-US" sz="1850" dirty="0"/>
          </a:p>
        </p:txBody>
      </p:sp>
      <p:sp>
        <p:nvSpPr>
          <p:cNvPr id="26" name="Text 10"/>
          <p:cNvSpPr/>
          <p:nvPr/>
        </p:nvSpPr>
        <p:spPr>
          <a:xfrm>
            <a:off x="10122408" y="5861304"/>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Supports channel optimization and customer-focused strategies.</a:t>
            </a:r>
            <a:endParaRPr lang="en-US" sz="14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8238744"/>
          </a:xfrm>
          <a:prstGeom prst="rect">
            <a:avLst/>
          </a:prstGeom>
        </p:spPr>
      </p:pic>
      <p:pic>
        <p:nvPicPr>
          <p:cNvPr id="4" name="Image 2" descr="preencoded.png">    </p:cNvPr>
          <p:cNvPicPr>
            <a:picLocks noChangeAspect="1"/>
          </p:cNvPicPr>
          <p:nvPr/>
        </p:nvPicPr>
        <p:blipFill>
          <a:blip r:embed="rId3"/>
          <a:stretch>
            <a:fillRect/>
          </a:stretch>
        </p:blipFill>
        <p:spPr>
          <a:xfrm>
            <a:off x="832104" y="5321808"/>
            <a:ext cx="12984480" cy="27432"/>
          </a:xfrm>
          <a:prstGeom prst="rect">
            <a:avLst/>
          </a:prstGeom>
        </p:spPr>
      </p:pic>
      <p:sp>
        <p:nvSpPr>
          <p:cNvPr id="5" name="Text 0"/>
          <p:cNvSpPr/>
          <p:nvPr/>
        </p:nvSpPr>
        <p:spPr>
          <a:xfrm>
            <a:off x="832104" y="134416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6" name="Text 1"/>
          <p:cNvSpPr/>
          <p:nvPr/>
        </p:nvSpPr>
        <p:spPr>
          <a:xfrm>
            <a:off x="832104" y="1792224"/>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7" name="Text 2"/>
          <p:cNvSpPr/>
          <p:nvPr/>
        </p:nvSpPr>
        <p:spPr>
          <a:xfrm>
            <a:off x="832104" y="2240280"/>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8" name="Text 3"/>
          <p:cNvSpPr/>
          <p:nvPr/>
        </p:nvSpPr>
        <p:spPr>
          <a:xfrm>
            <a:off x="832104" y="2688336"/>
            <a:ext cx="12984480" cy="822960"/>
          </a:xfrm>
          <a:prstGeom prst="rect">
            <a:avLst/>
          </a:prstGeom>
          <a:noFill/>
          <a:ln/>
        </p:spPr>
        <p:txBody>
          <a:bodyPr wrap="none" lIns="0" tIns="0" rIns="0" bIns="0" rtlCol="0" anchor="ctr"/>
          <a:lstStyle/>
          <a:p>
            <a:pPr algn="l" indent="0" marL="0">
              <a:lnSpc>
                <a:spcPts val="6410"/>
              </a:lnSpc>
              <a:buNone/>
            </a:pPr>
            <a:r>
              <a:rPr lang="en-US" sz="5120" i="1" dirty="0">
                <a:solidFill>
                  <a:srgbClr val="3F4460"/>
                </a:solidFill>
                <a:latin typeface="思源宋体-思源宋体-Heavy" pitchFamily="34" charset="0"/>
                <a:ea typeface="思源宋体-思源宋体-Heavy" pitchFamily="34" charset="-122"/>
                <a:cs typeface="思源宋体-思源宋体-Heavy" pitchFamily="34" charset="-120"/>
              </a:rPr>
              <a:t>04</a:t>
            </a:r>
            <a:endParaRPr lang="en-US" sz="5120" dirty="0"/>
          </a:p>
        </p:txBody>
      </p:sp>
      <p:sp>
        <p:nvSpPr>
          <p:cNvPr id="9" name="Text 4"/>
          <p:cNvSpPr/>
          <p:nvPr/>
        </p:nvSpPr>
        <p:spPr>
          <a:xfrm>
            <a:off x="832104" y="3712464"/>
            <a:ext cx="12984480" cy="594360"/>
          </a:xfrm>
          <a:prstGeom prst="rect">
            <a:avLst/>
          </a:prstGeom>
          <a:noFill/>
          <a:ln/>
        </p:spPr>
        <p:txBody>
          <a:bodyPr wrap="none" lIns="0" tIns="0" rIns="0" bIns="0" rtlCol="0" anchor="ctr"/>
          <a:lstStyle/>
          <a:p>
            <a:pPr algn="l" indent="0" marL="0">
              <a:lnSpc>
                <a:spcPts val="4640"/>
              </a:lnSpc>
              <a:buNone/>
            </a:pPr>
            <a:r>
              <a:rPr lang="en-US" sz="3710" i="1" dirty="0">
                <a:solidFill>
                  <a:srgbClr val="3F4460"/>
                </a:solidFill>
                <a:latin typeface="思源宋体-思源宋体-Heavy" pitchFamily="34" charset="0"/>
                <a:ea typeface="思源宋体-思源宋体-Heavy" pitchFamily="34" charset="-122"/>
                <a:cs typeface="思源宋体-思源宋体-Heavy" pitchFamily="34" charset="-120"/>
              </a:rPr>
              <a:t>SQL Analytics</a:t>
            </a:r>
            <a:endParaRPr lang="en-US" sz="3710" dirty="0"/>
          </a:p>
        </p:txBody>
      </p:sp>
      <p:sp>
        <p:nvSpPr>
          <p:cNvPr id="10" name="Text 5"/>
          <p:cNvSpPr/>
          <p:nvPr/>
        </p:nvSpPr>
        <p:spPr>
          <a:xfrm>
            <a:off x="832104" y="4517136"/>
            <a:ext cx="12984480" cy="594360"/>
          </a:xfrm>
          <a:prstGeom prst="rect">
            <a:avLst/>
          </a:prstGeom>
          <a:noFill/>
          <a:ln/>
        </p:spPr>
        <p:txBody>
          <a:bodyPr wrap="none" lIns="0" tIns="0" rIns="0" bIns="0" rtlCol="0" anchor="ctr"/>
          <a:lstStyle/>
          <a:p>
            <a:pPr algn="l" indent="0" marL="0">
              <a:lnSpc>
                <a:spcPts val="4640"/>
              </a:lnSpc>
              <a:buNone/>
            </a:pPr>
            <a:r>
              <a:rPr lang="en-US" sz="3710" i="1" dirty="0">
                <a:solidFill>
                  <a:srgbClr val="3F4460"/>
                </a:solidFill>
                <a:latin typeface="思源宋体-思源宋体-Heavy" pitchFamily="34" charset="0"/>
                <a:ea typeface="思源宋体-思源宋体-Heavy" pitchFamily="34" charset="-122"/>
                <a:cs typeface="思源宋体-思源宋体-Heavy" pitchFamily="34" charset="-120"/>
              </a:rPr>
              <a:t> </a:t>
            </a:r>
            <a:endParaRPr lang="en-US" sz="3710" dirty="0"/>
          </a:p>
        </p:txBody>
      </p:sp>
      <p:sp>
        <p:nvSpPr>
          <p:cNvPr id="11" name="Text 6"/>
          <p:cNvSpPr/>
          <p:nvPr/>
        </p:nvSpPr>
        <p:spPr>
          <a:xfrm>
            <a:off x="832104" y="555040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2" name="Text 7"/>
          <p:cNvSpPr/>
          <p:nvPr/>
        </p:nvSpPr>
        <p:spPr>
          <a:xfrm>
            <a:off x="832104" y="5998464"/>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3" name="Text 8"/>
          <p:cNvSpPr/>
          <p:nvPr/>
        </p:nvSpPr>
        <p:spPr>
          <a:xfrm>
            <a:off x="832104" y="6446520"/>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841248" y="2907792"/>
            <a:ext cx="6373368" cy="758952"/>
          </a:xfrm>
          <a:prstGeom prst="rect">
            <a:avLst/>
          </a:prstGeom>
        </p:spPr>
      </p:pic>
      <p:pic>
        <p:nvPicPr>
          <p:cNvPr id="4" name="Image 2" descr="preencoded.png">    </p:cNvPr>
          <p:cNvPicPr>
            <a:picLocks noChangeAspect="1"/>
          </p:cNvPicPr>
          <p:nvPr/>
        </p:nvPicPr>
        <p:blipFill>
          <a:blip r:embed="rId3"/>
          <a:stretch>
            <a:fillRect/>
          </a:stretch>
        </p:blipFill>
        <p:spPr>
          <a:xfrm>
            <a:off x="841248" y="3877056"/>
            <a:ext cx="6373368" cy="758952"/>
          </a:xfrm>
          <a:prstGeom prst="rect">
            <a:avLst/>
          </a:prstGeom>
        </p:spPr>
      </p:pic>
      <p:pic>
        <p:nvPicPr>
          <p:cNvPr id="5" name="Image 3" descr="preencoded.png">    </p:cNvPr>
          <p:cNvPicPr>
            <a:picLocks noChangeAspect="1"/>
          </p:cNvPicPr>
          <p:nvPr/>
        </p:nvPicPr>
        <p:blipFill>
          <a:blip r:embed="rId4"/>
          <a:stretch>
            <a:fillRect/>
          </a:stretch>
        </p:blipFill>
        <p:spPr>
          <a:xfrm>
            <a:off x="841248" y="4855464"/>
            <a:ext cx="6373368" cy="758952"/>
          </a:xfrm>
          <a:prstGeom prst="rect">
            <a:avLst/>
          </a:prstGeom>
        </p:spPr>
      </p:pic>
      <p:pic>
        <p:nvPicPr>
          <p:cNvPr id="6" name="Image 4" descr="preencoded.png">    </p:cNvPr>
          <p:cNvPicPr>
            <a:picLocks noChangeAspect="1"/>
          </p:cNvPicPr>
          <p:nvPr/>
        </p:nvPicPr>
        <p:blipFill>
          <a:blip r:embed="rId5"/>
          <a:stretch>
            <a:fillRect/>
          </a:stretch>
        </p:blipFill>
        <p:spPr>
          <a:xfrm>
            <a:off x="841248" y="5824728"/>
            <a:ext cx="6373368" cy="758952"/>
          </a:xfrm>
          <a:prstGeom prst="rect">
            <a:avLst/>
          </a:prstGeom>
        </p:spPr>
      </p:pic>
      <p:pic>
        <p:nvPicPr>
          <p:cNvPr id="7" name="Image 5" descr="preencoded.png">    </p:cNvPr>
          <p:cNvPicPr>
            <a:picLocks noChangeAspect="1"/>
          </p:cNvPicPr>
          <p:nvPr/>
        </p:nvPicPr>
        <p:blipFill>
          <a:blip r:embed="rId6"/>
          <a:stretch>
            <a:fillRect/>
          </a:stretch>
        </p:blipFill>
        <p:spPr>
          <a:xfrm>
            <a:off x="7424928" y="2907792"/>
            <a:ext cx="6373368" cy="758952"/>
          </a:xfrm>
          <a:prstGeom prst="rect">
            <a:avLst/>
          </a:prstGeom>
        </p:spPr>
      </p:pic>
      <p:pic>
        <p:nvPicPr>
          <p:cNvPr id="8" name="Image 6" descr="preencoded.png">    </p:cNvPr>
          <p:cNvPicPr>
            <a:picLocks noChangeAspect="1"/>
          </p:cNvPicPr>
          <p:nvPr/>
        </p:nvPicPr>
        <p:blipFill>
          <a:blip r:embed="rId7"/>
          <a:stretch>
            <a:fillRect/>
          </a:stretch>
        </p:blipFill>
        <p:spPr>
          <a:xfrm>
            <a:off x="7424928" y="3877056"/>
            <a:ext cx="6373368" cy="758952"/>
          </a:xfrm>
          <a:prstGeom prst="rect">
            <a:avLst/>
          </a:prstGeom>
        </p:spPr>
      </p:pic>
      <p:pic>
        <p:nvPicPr>
          <p:cNvPr id="9" name="Image 7" descr="preencoded.png">    </p:cNvPr>
          <p:cNvPicPr>
            <a:picLocks noChangeAspect="1"/>
          </p:cNvPicPr>
          <p:nvPr/>
        </p:nvPicPr>
        <p:blipFill>
          <a:blip r:embed="rId8"/>
          <a:stretch>
            <a:fillRect/>
          </a:stretch>
        </p:blipFill>
        <p:spPr>
          <a:xfrm>
            <a:off x="7424928" y="4855464"/>
            <a:ext cx="6373368" cy="758952"/>
          </a:xfrm>
          <a:prstGeom prst="rect">
            <a:avLst/>
          </a:prstGeom>
        </p:spPr>
      </p:pic>
      <p:pic>
        <p:nvPicPr>
          <p:cNvPr id="10" name="Image 8" descr="preencoded.png">    </p:cNvPr>
          <p:cNvPicPr>
            <a:picLocks noChangeAspect="1"/>
          </p:cNvPicPr>
          <p:nvPr/>
        </p:nvPicPr>
        <p:blipFill>
          <a:blip r:embed="rId9"/>
          <a:stretch>
            <a:fillRect/>
          </a:stretch>
        </p:blipFill>
        <p:spPr>
          <a:xfrm>
            <a:off x="7424928" y="5824728"/>
            <a:ext cx="6373368" cy="758952"/>
          </a:xfrm>
          <a:prstGeom prst="rect">
            <a:avLst/>
          </a:prstGeom>
        </p:spPr>
      </p:pic>
      <p:pic>
        <p:nvPicPr>
          <p:cNvPr id="11" name="Image 9" descr="preencoded.png">    </p:cNvPr>
          <p:cNvPicPr>
            <a:picLocks noChangeAspect="1"/>
          </p:cNvPicPr>
          <p:nvPr/>
        </p:nvPicPr>
        <p:blipFill>
          <a:blip r:embed="rId10"/>
          <a:stretch>
            <a:fillRect/>
          </a:stretch>
        </p:blipFill>
        <p:spPr>
          <a:xfrm>
            <a:off x="1600200" y="3099816"/>
            <a:ext cx="5422392" cy="384048"/>
          </a:xfrm>
          <a:prstGeom prst="rect">
            <a:avLst/>
          </a:prstGeom>
        </p:spPr>
      </p:pic>
      <p:pic>
        <p:nvPicPr>
          <p:cNvPr id="12" name="Image 10" descr="preencoded.png">    </p:cNvPr>
          <p:cNvPicPr>
            <a:picLocks noChangeAspect="1"/>
          </p:cNvPicPr>
          <p:nvPr/>
        </p:nvPicPr>
        <p:blipFill>
          <a:blip r:embed="rId11"/>
          <a:stretch>
            <a:fillRect/>
          </a:stretch>
        </p:blipFill>
        <p:spPr>
          <a:xfrm>
            <a:off x="1600200" y="4069080"/>
            <a:ext cx="5422392" cy="384048"/>
          </a:xfrm>
          <a:prstGeom prst="rect">
            <a:avLst/>
          </a:prstGeom>
        </p:spPr>
      </p:pic>
      <p:pic>
        <p:nvPicPr>
          <p:cNvPr id="13" name="Image 11" descr="preencoded.png">    </p:cNvPr>
          <p:cNvPicPr>
            <a:picLocks noChangeAspect="1"/>
          </p:cNvPicPr>
          <p:nvPr/>
        </p:nvPicPr>
        <p:blipFill>
          <a:blip r:embed="rId12"/>
          <a:stretch>
            <a:fillRect/>
          </a:stretch>
        </p:blipFill>
        <p:spPr>
          <a:xfrm>
            <a:off x="1600200" y="5047488"/>
            <a:ext cx="5422392" cy="384048"/>
          </a:xfrm>
          <a:prstGeom prst="rect">
            <a:avLst/>
          </a:prstGeom>
        </p:spPr>
      </p:pic>
      <p:pic>
        <p:nvPicPr>
          <p:cNvPr id="14" name="Image 12" descr="preencoded.png">    </p:cNvPr>
          <p:cNvPicPr>
            <a:picLocks noChangeAspect="1"/>
          </p:cNvPicPr>
          <p:nvPr/>
        </p:nvPicPr>
        <p:blipFill>
          <a:blip r:embed="rId13"/>
          <a:stretch>
            <a:fillRect/>
          </a:stretch>
        </p:blipFill>
        <p:spPr>
          <a:xfrm>
            <a:off x="1600200" y="6016752"/>
            <a:ext cx="5422392" cy="384048"/>
          </a:xfrm>
          <a:prstGeom prst="rect">
            <a:avLst/>
          </a:prstGeom>
        </p:spPr>
      </p:pic>
      <p:pic>
        <p:nvPicPr>
          <p:cNvPr id="15" name="Image 13" descr="preencoded.png">    </p:cNvPr>
          <p:cNvPicPr>
            <a:picLocks noChangeAspect="1"/>
          </p:cNvPicPr>
          <p:nvPr/>
        </p:nvPicPr>
        <p:blipFill>
          <a:blip r:embed="rId14"/>
          <a:stretch>
            <a:fillRect/>
          </a:stretch>
        </p:blipFill>
        <p:spPr>
          <a:xfrm>
            <a:off x="8183880" y="3099816"/>
            <a:ext cx="5422392" cy="384048"/>
          </a:xfrm>
          <a:prstGeom prst="rect">
            <a:avLst/>
          </a:prstGeom>
        </p:spPr>
      </p:pic>
      <p:pic>
        <p:nvPicPr>
          <p:cNvPr id="16" name="Image 14" descr="preencoded.png">    </p:cNvPr>
          <p:cNvPicPr>
            <a:picLocks noChangeAspect="1"/>
          </p:cNvPicPr>
          <p:nvPr/>
        </p:nvPicPr>
        <p:blipFill>
          <a:blip r:embed="rId15"/>
          <a:stretch>
            <a:fillRect/>
          </a:stretch>
        </p:blipFill>
        <p:spPr>
          <a:xfrm>
            <a:off x="8183880" y="4069080"/>
            <a:ext cx="5422392" cy="384048"/>
          </a:xfrm>
          <a:prstGeom prst="rect">
            <a:avLst/>
          </a:prstGeom>
        </p:spPr>
      </p:pic>
      <p:pic>
        <p:nvPicPr>
          <p:cNvPr id="17" name="Image 15" descr="preencoded.png">    </p:cNvPr>
          <p:cNvPicPr>
            <a:picLocks noChangeAspect="1"/>
          </p:cNvPicPr>
          <p:nvPr/>
        </p:nvPicPr>
        <p:blipFill>
          <a:blip r:embed="rId16"/>
          <a:stretch>
            <a:fillRect/>
          </a:stretch>
        </p:blipFill>
        <p:spPr>
          <a:xfrm>
            <a:off x="8183880" y="5047488"/>
            <a:ext cx="5422392" cy="384048"/>
          </a:xfrm>
          <a:prstGeom prst="rect">
            <a:avLst/>
          </a:prstGeom>
        </p:spPr>
      </p:pic>
      <p:pic>
        <p:nvPicPr>
          <p:cNvPr id="18" name="Image 16" descr="preencoded.png">    </p:cNvPr>
          <p:cNvPicPr>
            <a:picLocks noChangeAspect="1"/>
          </p:cNvPicPr>
          <p:nvPr/>
        </p:nvPicPr>
        <p:blipFill>
          <a:blip r:embed="rId17"/>
          <a:stretch>
            <a:fillRect/>
          </a:stretch>
        </p:blipFill>
        <p:spPr>
          <a:xfrm>
            <a:off x="8183880" y="6016752"/>
            <a:ext cx="5422392" cy="384048"/>
          </a:xfrm>
          <a:prstGeom prst="rect">
            <a:avLst/>
          </a:prstGeom>
        </p:spPr>
      </p:pic>
      <p:pic>
        <p:nvPicPr>
          <p:cNvPr id="19" name="Image 17" descr="preencoded.png">    </p:cNvPr>
          <p:cNvPicPr>
            <a:picLocks noChangeAspect="1"/>
          </p:cNvPicPr>
          <p:nvPr/>
        </p:nvPicPr>
        <p:blipFill>
          <a:blip r:embed="rId18"/>
          <a:stretch>
            <a:fillRect/>
          </a:stretch>
        </p:blipFill>
        <p:spPr>
          <a:xfrm>
            <a:off x="1014984" y="3081528"/>
            <a:ext cx="411480" cy="411480"/>
          </a:xfrm>
          <a:prstGeom prst="rect">
            <a:avLst/>
          </a:prstGeom>
        </p:spPr>
      </p:pic>
      <p:pic>
        <p:nvPicPr>
          <p:cNvPr id="20" name="Image 18" descr="preencoded.png">    </p:cNvPr>
          <p:cNvPicPr>
            <a:picLocks noChangeAspect="1"/>
          </p:cNvPicPr>
          <p:nvPr/>
        </p:nvPicPr>
        <p:blipFill>
          <a:blip r:embed="rId19"/>
          <a:stretch>
            <a:fillRect/>
          </a:stretch>
        </p:blipFill>
        <p:spPr>
          <a:xfrm>
            <a:off x="1014984" y="4050792"/>
            <a:ext cx="411480" cy="411480"/>
          </a:xfrm>
          <a:prstGeom prst="rect">
            <a:avLst/>
          </a:prstGeom>
        </p:spPr>
      </p:pic>
      <p:pic>
        <p:nvPicPr>
          <p:cNvPr id="21" name="Image 19" descr="preencoded.png">    </p:cNvPr>
          <p:cNvPicPr>
            <a:picLocks noChangeAspect="1"/>
          </p:cNvPicPr>
          <p:nvPr/>
        </p:nvPicPr>
        <p:blipFill>
          <a:blip r:embed="rId20"/>
          <a:stretch>
            <a:fillRect/>
          </a:stretch>
        </p:blipFill>
        <p:spPr>
          <a:xfrm>
            <a:off x="1014984" y="5029200"/>
            <a:ext cx="411480" cy="411480"/>
          </a:xfrm>
          <a:prstGeom prst="rect">
            <a:avLst/>
          </a:prstGeom>
        </p:spPr>
      </p:pic>
      <p:pic>
        <p:nvPicPr>
          <p:cNvPr id="22" name="Image 20" descr="preencoded.png">    </p:cNvPr>
          <p:cNvPicPr>
            <a:picLocks noChangeAspect="1"/>
          </p:cNvPicPr>
          <p:nvPr/>
        </p:nvPicPr>
        <p:blipFill>
          <a:blip r:embed="rId21"/>
          <a:stretch>
            <a:fillRect/>
          </a:stretch>
        </p:blipFill>
        <p:spPr>
          <a:xfrm>
            <a:off x="1014984" y="5998464"/>
            <a:ext cx="411480" cy="411480"/>
          </a:xfrm>
          <a:prstGeom prst="rect">
            <a:avLst/>
          </a:prstGeom>
        </p:spPr>
      </p:pic>
      <p:pic>
        <p:nvPicPr>
          <p:cNvPr id="23" name="Image 21" descr="preencoded.png">    </p:cNvPr>
          <p:cNvPicPr>
            <a:picLocks noChangeAspect="1"/>
          </p:cNvPicPr>
          <p:nvPr/>
        </p:nvPicPr>
        <p:blipFill>
          <a:blip r:embed="rId22"/>
          <a:stretch>
            <a:fillRect/>
          </a:stretch>
        </p:blipFill>
        <p:spPr>
          <a:xfrm>
            <a:off x="7598664" y="3081528"/>
            <a:ext cx="411480" cy="411480"/>
          </a:xfrm>
          <a:prstGeom prst="rect">
            <a:avLst/>
          </a:prstGeom>
        </p:spPr>
      </p:pic>
      <p:pic>
        <p:nvPicPr>
          <p:cNvPr id="24" name="Image 22" descr="preencoded.png">    </p:cNvPr>
          <p:cNvPicPr>
            <a:picLocks noChangeAspect="1"/>
          </p:cNvPicPr>
          <p:nvPr/>
        </p:nvPicPr>
        <p:blipFill>
          <a:blip r:embed="rId23"/>
          <a:stretch>
            <a:fillRect/>
          </a:stretch>
        </p:blipFill>
        <p:spPr>
          <a:xfrm>
            <a:off x="7598664" y="4050792"/>
            <a:ext cx="411480" cy="411480"/>
          </a:xfrm>
          <a:prstGeom prst="rect">
            <a:avLst/>
          </a:prstGeom>
        </p:spPr>
      </p:pic>
      <p:pic>
        <p:nvPicPr>
          <p:cNvPr id="25" name="Image 23" descr="preencoded.png">    </p:cNvPr>
          <p:cNvPicPr>
            <a:picLocks noChangeAspect="1"/>
          </p:cNvPicPr>
          <p:nvPr/>
        </p:nvPicPr>
        <p:blipFill>
          <a:blip r:embed="rId24"/>
          <a:stretch>
            <a:fillRect/>
          </a:stretch>
        </p:blipFill>
        <p:spPr>
          <a:xfrm>
            <a:off x="7598664" y="5029200"/>
            <a:ext cx="411480" cy="411480"/>
          </a:xfrm>
          <a:prstGeom prst="rect">
            <a:avLst/>
          </a:prstGeom>
        </p:spPr>
      </p:pic>
      <p:pic>
        <p:nvPicPr>
          <p:cNvPr id="26" name="Image 24" descr="preencoded.png">    </p:cNvPr>
          <p:cNvPicPr>
            <a:picLocks noChangeAspect="1"/>
          </p:cNvPicPr>
          <p:nvPr/>
        </p:nvPicPr>
        <p:blipFill>
          <a:blip r:embed="rId25"/>
          <a:stretch>
            <a:fillRect/>
          </a:stretch>
        </p:blipFill>
        <p:spPr>
          <a:xfrm>
            <a:off x="7598664" y="5998464"/>
            <a:ext cx="411480" cy="411480"/>
          </a:xfrm>
          <a:prstGeom prst="rect">
            <a:avLst/>
          </a:prstGeom>
        </p:spPr>
      </p:pic>
      <p:sp>
        <p:nvSpPr>
          <p:cNvPr id="27" name="Text 0"/>
          <p:cNvSpPr/>
          <p:nvPr/>
        </p:nvSpPr>
        <p:spPr>
          <a:xfrm>
            <a:off x="832104" y="1645920"/>
            <a:ext cx="12984480" cy="594360"/>
          </a:xfrm>
          <a:prstGeom prst="rect">
            <a:avLst/>
          </a:prstGeom>
          <a:noFill/>
          <a:ln/>
        </p:spPr>
        <p:txBody>
          <a:bodyPr wrap="non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SQL Techniques Used in Analysis</a:t>
            </a:r>
            <a:endParaRPr lang="en-US" sz="3710" dirty="0"/>
          </a:p>
        </p:txBody>
      </p:sp>
      <p:sp>
        <p:nvSpPr>
          <p:cNvPr id="28" name="Text 1"/>
          <p:cNvSpPr/>
          <p:nvPr/>
        </p:nvSpPr>
        <p:spPr>
          <a:xfrm>
            <a:off x="832104" y="244144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29" name="Text 2"/>
          <p:cNvSpPr/>
          <p:nvPr/>
        </p:nvSpPr>
        <p:spPr>
          <a:xfrm>
            <a:off x="1170432" y="3127248"/>
            <a:ext cx="109728"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1</a:t>
            </a:r>
            <a:endParaRPr lang="en-US" sz="1850" dirty="0"/>
          </a:p>
        </p:txBody>
      </p:sp>
      <p:sp>
        <p:nvSpPr>
          <p:cNvPr id="30" name="Text 3"/>
          <p:cNvSpPr/>
          <p:nvPr/>
        </p:nvSpPr>
        <p:spPr>
          <a:xfrm>
            <a:off x="1600200" y="3099816"/>
            <a:ext cx="5422392"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JOIN</a:t>
            </a:r>
            <a:endParaRPr lang="en-US" sz="1850" dirty="0"/>
          </a:p>
        </p:txBody>
      </p:sp>
      <p:sp>
        <p:nvSpPr>
          <p:cNvPr id="31" name="Text 4"/>
          <p:cNvSpPr/>
          <p:nvPr/>
        </p:nvSpPr>
        <p:spPr>
          <a:xfrm>
            <a:off x="1152144" y="4105656"/>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3</a:t>
            </a:r>
            <a:endParaRPr lang="en-US" sz="1850" dirty="0"/>
          </a:p>
        </p:txBody>
      </p:sp>
      <p:sp>
        <p:nvSpPr>
          <p:cNvPr id="32" name="Text 5"/>
          <p:cNvSpPr/>
          <p:nvPr/>
        </p:nvSpPr>
        <p:spPr>
          <a:xfrm>
            <a:off x="1600200" y="4069080"/>
            <a:ext cx="5422392"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SUM &amp; GROUP BY</a:t>
            </a:r>
            <a:endParaRPr lang="en-US" sz="1850" dirty="0"/>
          </a:p>
        </p:txBody>
      </p:sp>
      <p:sp>
        <p:nvSpPr>
          <p:cNvPr id="33" name="Text 6"/>
          <p:cNvSpPr/>
          <p:nvPr/>
        </p:nvSpPr>
        <p:spPr>
          <a:xfrm>
            <a:off x="1152144" y="5074920"/>
            <a:ext cx="155448"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5</a:t>
            </a:r>
            <a:endParaRPr lang="en-US" sz="1850" dirty="0"/>
          </a:p>
        </p:txBody>
      </p:sp>
      <p:sp>
        <p:nvSpPr>
          <p:cNvPr id="34" name="Text 7"/>
          <p:cNvSpPr/>
          <p:nvPr/>
        </p:nvSpPr>
        <p:spPr>
          <a:xfrm>
            <a:off x="1600200" y="5047488"/>
            <a:ext cx="5422392"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ORDER BY </a:t>
            </a:r>
            <a:endParaRPr lang="en-US" sz="1850" dirty="0"/>
          </a:p>
        </p:txBody>
      </p:sp>
      <p:sp>
        <p:nvSpPr>
          <p:cNvPr id="35" name="Text 8"/>
          <p:cNvSpPr/>
          <p:nvPr/>
        </p:nvSpPr>
        <p:spPr>
          <a:xfrm>
            <a:off x="1161288" y="6053328"/>
            <a:ext cx="137160"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7</a:t>
            </a:r>
            <a:endParaRPr lang="en-US" sz="1850" dirty="0"/>
          </a:p>
        </p:txBody>
      </p:sp>
      <p:sp>
        <p:nvSpPr>
          <p:cNvPr id="36" name="Text 9"/>
          <p:cNvSpPr/>
          <p:nvPr/>
        </p:nvSpPr>
        <p:spPr>
          <a:xfrm>
            <a:off x="1600200" y="6016752"/>
            <a:ext cx="5422392"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TOP</a:t>
            </a:r>
            <a:endParaRPr lang="en-US" sz="1850" dirty="0"/>
          </a:p>
        </p:txBody>
      </p:sp>
      <p:sp>
        <p:nvSpPr>
          <p:cNvPr id="37" name="Text 10"/>
          <p:cNvSpPr/>
          <p:nvPr/>
        </p:nvSpPr>
        <p:spPr>
          <a:xfrm>
            <a:off x="7735824" y="3127248"/>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2</a:t>
            </a:r>
            <a:endParaRPr lang="en-US" sz="1850" dirty="0"/>
          </a:p>
        </p:txBody>
      </p:sp>
      <p:sp>
        <p:nvSpPr>
          <p:cNvPr id="38" name="Text 11"/>
          <p:cNvSpPr/>
          <p:nvPr/>
        </p:nvSpPr>
        <p:spPr>
          <a:xfrm>
            <a:off x="8183880" y="3099816"/>
            <a:ext cx="5422392"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COUNT &amp; DISTINCT</a:t>
            </a:r>
            <a:endParaRPr lang="en-US" sz="1850" dirty="0"/>
          </a:p>
        </p:txBody>
      </p:sp>
      <p:sp>
        <p:nvSpPr>
          <p:cNvPr id="39" name="Text 12"/>
          <p:cNvSpPr/>
          <p:nvPr/>
        </p:nvSpPr>
        <p:spPr>
          <a:xfrm>
            <a:off x="7735824" y="4105656"/>
            <a:ext cx="146304"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4</a:t>
            </a:r>
            <a:endParaRPr lang="en-US" sz="1850" dirty="0"/>
          </a:p>
        </p:txBody>
      </p:sp>
      <p:sp>
        <p:nvSpPr>
          <p:cNvPr id="40" name="Text 13"/>
          <p:cNvSpPr/>
          <p:nvPr/>
        </p:nvSpPr>
        <p:spPr>
          <a:xfrm>
            <a:off x="8183880" y="4069080"/>
            <a:ext cx="5422392"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WHERE</a:t>
            </a:r>
            <a:endParaRPr lang="en-US" sz="1850" dirty="0"/>
          </a:p>
        </p:txBody>
      </p:sp>
      <p:sp>
        <p:nvSpPr>
          <p:cNvPr id="41" name="Text 14"/>
          <p:cNvSpPr/>
          <p:nvPr/>
        </p:nvSpPr>
        <p:spPr>
          <a:xfrm>
            <a:off x="7735824" y="5074920"/>
            <a:ext cx="155448"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6</a:t>
            </a:r>
            <a:endParaRPr lang="en-US" sz="1850" dirty="0"/>
          </a:p>
        </p:txBody>
      </p:sp>
      <p:sp>
        <p:nvSpPr>
          <p:cNvPr id="42" name="Text 15"/>
          <p:cNvSpPr/>
          <p:nvPr/>
        </p:nvSpPr>
        <p:spPr>
          <a:xfrm>
            <a:off x="8183880" y="5047488"/>
            <a:ext cx="5422392"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AVG, MAX, MIN</a:t>
            </a:r>
            <a:endParaRPr lang="en-US" sz="1850" dirty="0"/>
          </a:p>
        </p:txBody>
      </p:sp>
      <p:sp>
        <p:nvSpPr>
          <p:cNvPr id="43" name="Text 16"/>
          <p:cNvSpPr/>
          <p:nvPr/>
        </p:nvSpPr>
        <p:spPr>
          <a:xfrm>
            <a:off x="7726680" y="6053328"/>
            <a:ext cx="155448" cy="320040"/>
          </a:xfrm>
          <a:prstGeom prst="rect">
            <a:avLst/>
          </a:prstGeom>
          <a:noFill/>
          <a:ln/>
        </p:spPr>
        <p:txBody>
          <a:bodyPr wrap="none" lIns="0" tIns="0" rIns="0" bIns="0" rtlCol="0" anchor="ctr"/>
          <a:lstStyle/>
          <a:p>
            <a:pPr algn="l" indent="0" marL="0">
              <a:lnSpc>
                <a:spcPts val="2220"/>
              </a:lnSpc>
              <a:buNone/>
            </a:pPr>
            <a:r>
              <a:rPr lang="en-US" sz="1850" dirty="0">
                <a:solidFill>
                  <a:srgbClr val="454545"/>
                </a:solidFill>
                <a:latin typeface="MiSans-MiSans-Regular" pitchFamily="34" charset="0"/>
                <a:ea typeface="MiSans-MiSans-Regular" pitchFamily="34" charset="-122"/>
                <a:cs typeface="MiSans-MiSans-Regular" pitchFamily="34" charset="-120"/>
              </a:rPr>
              <a:t>8</a:t>
            </a:r>
            <a:endParaRPr lang="en-US" sz="1850" dirty="0"/>
          </a:p>
        </p:txBody>
      </p:sp>
      <p:sp>
        <p:nvSpPr>
          <p:cNvPr id="44" name="Text 17"/>
          <p:cNvSpPr/>
          <p:nvPr/>
        </p:nvSpPr>
        <p:spPr>
          <a:xfrm>
            <a:off x="8183880" y="6016752"/>
            <a:ext cx="5422392"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HAVING</a:t>
            </a:r>
            <a:endParaRPr lang="en-US" sz="1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8238744"/>
          </a:xfrm>
          <a:prstGeom prst="rect">
            <a:avLst/>
          </a:prstGeom>
        </p:spPr>
      </p:pic>
      <p:pic>
        <p:nvPicPr>
          <p:cNvPr id="4" name="Image 2" descr="preencoded.png">    </p:cNvPr>
          <p:cNvPicPr>
            <a:picLocks noChangeAspect="1"/>
          </p:cNvPicPr>
          <p:nvPr/>
        </p:nvPicPr>
        <p:blipFill>
          <a:blip r:embed="rId3"/>
          <a:stretch>
            <a:fillRect/>
          </a:stretch>
        </p:blipFill>
        <p:spPr>
          <a:xfrm>
            <a:off x="832104" y="3200400"/>
            <a:ext cx="3108960" cy="1956816"/>
          </a:xfrm>
          <a:prstGeom prst="rect">
            <a:avLst/>
          </a:prstGeom>
        </p:spPr>
      </p:pic>
      <p:pic>
        <p:nvPicPr>
          <p:cNvPr id="5" name="Image 3" descr="preencoded.png">    </p:cNvPr>
          <p:cNvPicPr>
            <a:picLocks noChangeAspect="1"/>
          </p:cNvPicPr>
          <p:nvPr/>
        </p:nvPicPr>
        <p:blipFill>
          <a:blip r:embed="rId4"/>
          <a:stretch>
            <a:fillRect/>
          </a:stretch>
        </p:blipFill>
        <p:spPr>
          <a:xfrm>
            <a:off x="4123944" y="3200400"/>
            <a:ext cx="3108960" cy="1956816"/>
          </a:xfrm>
          <a:prstGeom prst="rect">
            <a:avLst/>
          </a:prstGeom>
        </p:spPr>
      </p:pic>
      <p:pic>
        <p:nvPicPr>
          <p:cNvPr id="6" name="Image 4" descr="preencoded.png">    </p:cNvPr>
          <p:cNvPicPr>
            <a:picLocks noChangeAspect="1"/>
          </p:cNvPicPr>
          <p:nvPr/>
        </p:nvPicPr>
        <p:blipFill>
          <a:blip r:embed="rId5"/>
          <a:stretch>
            <a:fillRect/>
          </a:stretch>
        </p:blipFill>
        <p:spPr>
          <a:xfrm>
            <a:off x="832104" y="5340096"/>
            <a:ext cx="4206240" cy="1426464"/>
          </a:xfrm>
          <a:prstGeom prst="rect">
            <a:avLst/>
          </a:prstGeom>
        </p:spPr>
      </p:pic>
      <p:pic>
        <p:nvPicPr>
          <p:cNvPr id="7" name="Image 5" descr="preencoded.png">    </p:cNvPr>
          <p:cNvPicPr>
            <a:picLocks noChangeAspect="1"/>
          </p:cNvPicPr>
          <p:nvPr/>
        </p:nvPicPr>
        <p:blipFill>
          <a:blip r:embed="rId6"/>
          <a:stretch>
            <a:fillRect/>
          </a:stretch>
        </p:blipFill>
        <p:spPr>
          <a:xfrm>
            <a:off x="5221224" y="5340096"/>
            <a:ext cx="4206240" cy="1426464"/>
          </a:xfrm>
          <a:prstGeom prst="rect">
            <a:avLst/>
          </a:prstGeom>
        </p:spPr>
      </p:pic>
      <p:pic>
        <p:nvPicPr>
          <p:cNvPr id="8" name="Image 6" descr="preencoded.png">    </p:cNvPr>
          <p:cNvPicPr>
            <a:picLocks noChangeAspect="1"/>
          </p:cNvPicPr>
          <p:nvPr/>
        </p:nvPicPr>
        <p:blipFill>
          <a:blip r:embed="rId7"/>
          <a:stretch>
            <a:fillRect/>
          </a:stretch>
        </p:blipFill>
        <p:spPr>
          <a:xfrm>
            <a:off x="7415784" y="3200400"/>
            <a:ext cx="3108960" cy="1956816"/>
          </a:xfrm>
          <a:prstGeom prst="rect">
            <a:avLst/>
          </a:prstGeom>
        </p:spPr>
      </p:pic>
      <p:pic>
        <p:nvPicPr>
          <p:cNvPr id="9" name="Image 7" descr="preencoded.png">    </p:cNvPr>
          <p:cNvPicPr>
            <a:picLocks noChangeAspect="1"/>
          </p:cNvPicPr>
          <p:nvPr/>
        </p:nvPicPr>
        <p:blipFill>
          <a:blip r:embed="rId8"/>
          <a:stretch>
            <a:fillRect/>
          </a:stretch>
        </p:blipFill>
        <p:spPr>
          <a:xfrm>
            <a:off x="9610344" y="5340096"/>
            <a:ext cx="4206240" cy="1426464"/>
          </a:xfrm>
          <a:prstGeom prst="rect">
            <a:avLst/>
          </a:prstGeom>
        </p:spPr>
      </p:pic>
      <p:pic>
        <p:nvPicPr>
          <p:cNvPr id="10" name="Image 8" descr="preencoded.png">    </p:cNvPr>
          <p:cNvPicPr>
            <a:picLocks noChangeAspect="1"/>
          </p:cNvPicPr>
          <p:nvPr/>
        </p:nvPicPr>
        <p:blipFill>
          <a:blip r:embed="rId9"/>
          <a:stretch>
            <a:fillRect/>
          </a:stretch>
        </p:blipFill>
        <p:spPr>
          <a:xfrm>
            <a:off x="10707624" y="3200400"/>
            <a:ext cx="3108960" cy="1956816"/>
          </a:xfrm>
          <a:prstGeom prst="rect">
            <a:avLst/>
          </a:prstGeom>
        </p:spPr>
      </p:pic>
      <p:sp>
        <p:nvSpPr>
          <p:cNvPr id="11" name="Text 0"/>
          <p:cNvSpPr/>
          <p:nvPr/>
        </p:nvSpPr>
        <p:spPr>
          <a:xfrm>
            <a:off x="832104" y="1271016"/>
            <a:ext cx="12984480" cy="594360"/>
          </a:xfrm>
          <a:prstGeom prst="rect">
            <a:avLst/>
          </a:prstGeom>
          <a:noFill/>
          <a:ln/>
        </p:spPr>
        <p:txBody>
          <a:bodyPr wrap="non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Query Development</a:t>
            </a:r>
            <a:endParaRPr lang="en-US" sz="3710" dirty="0"/>
          </a:p>
        </p:txBody>
      </p:sp>
      <p:sp>
        <p:nvSpPr>
          <p:cNvPr id="12" name="Text 1"/>
          <p:cNvSpPr/>
          <p:nvPr/>
        </p:nvSpPr>
        <p:spPr>
          <a:xfrm>
            <a:off x="832104" y="2066544"/>
            <a:ext cx="1298448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Using SQL, I performed a comprehensive data analysis to understand sales performance, profitability, and business trends across different dimensions of the Adventure Works dataset.</a:t>
            </a:r>
            <a:endParaRPr lang="en-US" sz="1480" dirty="0"/>
          </a:p>
        </p:txBody>
      </p:sp>
      <p:sp>
        <p:nvSpPr>
          <p:cNvPr id="13" name="Text 2"/>
          <p:cNvSpPr/>
          <p:nvPr/>
        </p:nvSpPr>
        <p:spPr>
          <a:xfrm>
            <a:off x="832104" y="2752344"/>
            <a:ext cx="12984480"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Main Steps &amp; Insights:</a:t>
            </a:r>
            <a:endParaRPr lang="en-US" sz="1480" dirty="0"/>
          </a:p>
        </p:txBody>
      </p:sp>
      <p:sp>
        <p:nvSpPr>
          <p:cNvPr id="14" name="Text 3"/>
          <p:cNvSpPr/>
          <p:nvPr/>
        </p:nvSpPr>
        <p:spPr>
          <a:xfrm>
            <a:off x="1051560" y="3328416"/>
            <a:ext cx="2670048" cy="594360"/>
          </a:xfrm>
          <a:prstGeom prst="rect">
            <a:avLst/>
          </a:prstGeom>
          <a:noFill/>
          <a:ln/>
        </p:spPr>
        <p:txBody>
          <a:bodyPr wrap="square" lIns="0" tIns="0" rIns="0" bIns="0" rtlCol="0" anchor="ctr"/>
          <a:lstStyle/>
          <a:p>
            <a:pPr algn="ctr" indent="0" marL="0">
              <a:lnSpc>
                <a:spcPts val="2320"/>
              </a:lnSpc>
              <a:buNone/>
            </a:pPr>
            <a:r>
              <a:rPr lang="en-US" sz="1850" b="1" dirty="0">
                <a:solidFill>
                  <a:srgbClr val="424242"/>
                </a:solidFill>
                <a:latin typeface="思源宋体-思源宋体-Heavy" pitchFamily="34" charset="0"/>
                <a:ea typeface="思源宋体-思源宋体-Heavy" pitchFamily="34" charset="-122"/>
                <a:cs typeface="思源宋体-思源宋体-Heavy" pitchFamily="34" charset="-120"/>
              </a:rPr>
              <a:t>Overall Performance Summary</a:t>
            </a:r>
            <a:endParaRPr lang="en-US" sz="1850" dirty="0"/>
          </a:p>
        </p:txBody>
      </p:sp>
      <p:sp>
        <p:nvSpPr>
          <p:cNvPr id="15" name="Text 4"/>
          <p:cNvSpPr/>
          <p:nvPr/>
        </p:nvSpPr>
        <p:spPr>
          <a:xfrm>
            <a:off x="1051560" y="4087368"/>
            <a:ext cx="2670048" cy="950976"/>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Calculated total sales, net profit, and profit margin to measure overall business performance.</a:t>
            </a:r>
            <a:endParaRPr lang="en-US" sz="1480" dirty="0"/>
          </a:p>
        </p:txBody>
      </p:sp>
      <p:sp>
        <p:nvSpPr>
          <p:cNvPr id="16" name="Text 5"/>
          <p:cNvSpPr/>
          <p:nvPr/>
        </p:nvSpPr>
        <p:spPr>
          <a:xfrm>
            <a:off x="4343400" y="3328416"/>
            <a:ext cx="2670048" cy="594360"/>
          </a:xfrm>
          <a:prstGeom prst="rect">
            <a:avLst/>
          </a:prstGeom>
          <a:noFill/>
          <a:ln/>
        </p:spPr>
        <p:txBody>
          <a:bodyPr wrap="square" lIns="0" tIns="0" rIns="0" bIns="0" rtlCol="0" anchor="ctr"/>
          <a:lstStyle/>
          <a:p>
            <a:pPr algn="ctr"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Regional Sales Analysis</a:t>
            </a:r>
            <a:endParaRPr lang="en-US" sz="1850" dirty="0"/>
          </a:p>
        </p:txBody>
      </p:sp>
      <p:sp>
        <p:nvSpPr>
          <p:cNvPr id="17" name="Text 6"/>
          <p:cNvSpPr/>
          <p:nvPr/>
        </p:nvSpPr>
        <p:spPr>
          <a:xfrm>
            <a:off x="1051560" y="5468112"/>
            <a:ext cx="3767328" cy="301752"/>
          </a:xfrm>
          <a:prstGeom prst="rect">
            <a:avLst/>
          </a:prstGeom>
          <a:noFill/>
          <a:ln/>
        </p:spPr>
        <p:txBody>
          <a:bodyPr wrap="none" lIns="0" tIns="0" rIns="0" bIns="0" rtlCol="0" anchor="ctr"/>
          <a:lstStyle/>
          <a:p>
            <a:pPr algn="ctr"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Reseller Insights</a:t>
            </a:r>
            <a:endParaRPr lang="en-US" sz="1850" dirty="0"/>
          </a:p>
        </p:txBody>
      </p:sp>
      <p:sp>
        <p:nvSpPr>
          <p:cNvPr id="18" name="Text 7"/>
          <p:cNvSpPr/>
          <p:nvPr/>
        </p:nvSpPr>
        <p:spPr>
          <a:xfrm>
            <a:off x="4343400" y="4087368"/>
            <a:ext cx="2670048" cy="950976"/>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Identified the top-performing regions based on revenue and number of orders.</a:t>
            </a:r>
            <a:endParaRPr lang="en-US" sz="1480" dirty="0"/>
          </a:p>
        </p:txBody>
      </p:sp>
      <p:sp>
        <p:nvSpPr>
          <p:cNvPr id="19" name="Text 8"/>
          <p:cNvSpPr/>
          <p:nvPr/>
        </p:nvSpPr>
        <p:spPr>
          <a:xfrm>
            <a:off x="1051560" y="5934456"/>
            <a:ext cx="3767328" cy="713232"/>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Compared different reseller business types and their contribution to total sales.</a:t>
            </a:r>
            <a:endParaRPr lang="en-US" sz="1480" dirty="0"/>
          </a:p>
        </p:txBody>
      </p:sp>
      <p:sp>
        <p:nvSpPr>
          <p:cNvPr id="20" name="Text 9"/>
          <p:cNvSpPr/>
          <p:nvPr/>
        </p:nvSpPr>
        <p:spPr>
          <a:xfrm>
            <a:off x="5440680" y="5468112"/>
            <a:ext cx="3767328" cy="301752"/>
          </a:xfrm>
          <a:prstGeom prst="rect">
            <a:avLst/>
          </a:prstGeom>
          <a:noFill/>
          <a:ln/>
        </p:spPr>
        <p:txBody>
          <a:bodyPr wrap="none" lIns="0" tIns="0" rIns="0" bIns="0" rtlCol="0" anchor="ctr"/>
          <a:lstStyle/>
          <a:p>
            <a:pPr algn="ctr"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Monthly &amp; Weekly Trends</a:t>
            </a:r>
            <a:endParaRPr lang="en-US" sz="1850" dirty="0"/>
          </a:p>
        </p:txBody>
      </p:sp>
      <p:sp>
        <p:nvSpPr>
          <p:cNvPr id="21" name="Text 10"/>
          <p:cNvSpPr/>
          <p:nvPr/>
        </p:nvSpPr>
        <p:spPr>
          <a:xfrm>
            <a:off x="5440680" y="5934456"/>
            <a:ext cx="3767328"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Detected sales seasonality and busiest days of the week</a:t>
            </a:r>
            <a:endParaRPr lang="en-US" sz="1480" dirty="0"/>
          </a:p>
        </p:txBody>
      </p:sp>
      <p:sp>
        <p:nvSpPr>
          <p:cNvPr id="22" name="Text 11"/>
          <p:cNvSpPr/>
          <p:nvPr/>
        </p:nvSpPr>
        <p:spPr>
          <a:xfrm>
            <a:off x="7635240" y="3328416"/>
            <a:ext cx="2670048" cy="594360"/>
          </a:xfrm>
          <a:prstGeom prst="rect">
            <a:avLst/>
          </a:prstGeom>
          <a:noFill/>
          <a:ln/>
        </p:spPr>
        <p:txBody>
          <a:bodyPr wrap="square" lIns="0" tIns="0" rIns="0" bIns="0" rtlCol="0" anchor="ctr"/>
          <a:lstStyle/>
          <a:p>
            <a:pPr algn="ctr"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Salesperson Performance</a:t>
            </a:r>
            <a:endParaRPr lang="en-US" sz="1850" dirty="0"/>
          </a:p>
        </p:txBody>
      </p:sp>
      <p:sp>
        <p:nvSpPr>
          <p:cNvPr id="23" name="Text 12"/>
          <p:cNvSpPr/>
          <p:nvPr/>
        </p:nvSpPr>
        <p:spPr>
          <a:xfrm>
            <a:off x="7635240" y="4087368"/>
            <a:ext cx="2670048" cy="950976"/>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Ranked salespeople by revenue to highlight high achievers and track team productivity.</a:t>
            </a:r>
            <a:endParaRPr lang="en-US" sz="1480" dirty="0"/>
          </a:p>
        </p:txBody>
      </p:sp>
      <p:sp>
        <p:nvSpPr>
          <p:cNvPr id="24" name="Text 13"/>
          <p:cNvSpPr/>
          <p:nvPr/>
        </p:nvSpPr>
        <p:spPr>
          <a:xfrm>
            <a:off x="9829800" y="5468112"/>
            <a:ext cx="3767328"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Target Achievement</a:t>
            </a:r>
            <a:endParaRPr lang="en-US" sz="1850" dirty="0"/>
          </a:p>
        </p:txBody>
      </p:sp>
      <p:sp>
        <p:nvSpPr>
          <p:cNvPr id="25" name="Text 14"/>
          <p:cNvSpPr/>
          <p:nvPr/>
        </p:nvSpPr>
        <p:spPr>
          <a:xfrm>
            <a:off x="10927080" y="3328416"/>
            <a:ext cx="2670048" cy="301752"/>
          </a:xfrm>
          <a:prstGeom prst="rect">
            <a:avLst/>
          </a:prstGeom>
          <a:noFill/>
          <a:ln/>
        </p:spPr>
        <p:txBody>
          <a:bodyPr wrap="none" lIns="0" tIns="0" rIns="0" bIns="0" rtlCol="0" anchor="ctr"/>
          <a:lstStyle/>
          <a:p>
            <a:pPr algn="ctr"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Product Analysis</a:t>
            </a:r>
            <a:endParaRPr lang="en-US" sz="1850" dirty="0"/>
          </a:p>
        </p:txBody>
      </p:sp>
      <p:sp>
        <p:nvSpPr>
          <p:cNvPr id="26" name="Text 15"/>
          <p:cNvSpPr/>
          <p:nvPr/>
        </p:nvSpPr>
        <p:spPr>
          <a:xfrm>
            <a:off x="9829800" y="5934456"/>
            <a:ext cx="3767328"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Compared actual sales vs. targets to measure goal attainment</a:t>
            </a:r>
            <a:endParaRPr lang="en-US" sz="1480" dirty="0"/>
          </a:p>
        </p:txBody>
      </p:sp>
      <p:sp>
        <p:nvSpPr>
          <p:cNvPr id="27" name="Text 16"/>
          <p:cNvSpPr/>
          <p:nvPr/>
        </p:nvSpPr>
        <p:spPr>
          <a:xfrm>
            <a:off x="10927080" y="3785616"/>
            <a:ext cx="2670048" cy="950976"/>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Found best-selling products and analyzed category performance and sales volume.</a:t>
            </a:r>
            <a:endParaRPr lang="en-US" sz="14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8238744"/>
          </a:xfrm>
          <a:prstGeom prst="rect">
            <a:avLst/>
          </a:prstGeom>
        </p:spPr>
      </p:pic>
      <p:pic>
        <p:nvPicPr>
          <p:cNvPr id="4" name="Image 2" descr="preencoded.png">    </p:cNvPr>
          <p:cNvPicPr>
            <a:picLocks noChangeAspect="1"/>
          </p:cNvPicPr>
          <p:nvPr/>
        </p:nvPicPr>
        <p:blipFill>
          <a:blip r:embed="rId3"/>
          <a:stretch>
            <a:fillRect/>
          </a:stretch>
        </p:blipFill>
        <p:spPr>
          <a:xfrm>
            <a:off x="832104" y="5321808"/>
            <a:ext cx="12984480" cy="27432"/>
          </a:xfrm>
          <a:prstGeom prst="rect">
            <a:avLst/>
          </a:prstGeom>
        </p:spPr>
      </p:pic>
      <p:sp>
        <p:nvSpPr>
          <p:cNvPr id="5" name="Text 0"/>
          <p:cNvSpPr/>
          <p:nvPr/>
        </p:nvSpPr>
        <p:spPr>
          <a:xfrm>
            <a:off x="832104" y="134416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6" name="Text 1"/>
          <p:cNvSpPr/>
          <p:nvPr/>
        </p:nvSpPr>
        <p:spPr>
          <a:xfrm>
            <a:off x="832104" y="1792224"/>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7" name="Text 2"/>
          <p:cNvSpPr/>
          <p:nvPr/>
        </p:nvSpPr>
        <p:spPr>
          <a:xfrm>
            <a:off x="832104" y="2240280"/>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8" name="Text 3"/>
          <p:cNvSpPr/>
          <p:nvPr/>
        </p:nvSpPr>
        <p:spPr>
          <a:xfrm>
            <a:off x="832104" y="2688336"/>
            <a:ext cx="12984480" cy="822960"/>
          </a:xfrm>
          <a:prstGeom prst="rect">
            <a:avLst/>
          </a:prstGeom>
          <a:noFill/>
          <a:ln/>
        </p:spPr>
        <p:txBody>
          <a:bodyPr wrap="none" lIns="0" tIns="0" rIns="0" bIns="0" rtlCol="0" anchor="ctr"/>
          <a:lstStyle/>
          <a:p>
            <a:pPr algn="l" indent="0" marL="0">
              <a:lnSpc>
                <a:spcPts val="6410"/>
              </a:lnSpc>
              <a:buNone/>
            </a:pPr>
            <a:r>
              <a:rPr lang="en-US" sz="5120" i="1" dirty="0">
                <a:solidFill>
                  <a:srgbClr val="3F4460"/>
                </a:solidFill>
                <a:latin typeface="思源宋体-思源宋体-Heavy" pitchFamily="34" charset="0"/>
                <a:ea typeface="思源宋体-思源宋体-Heavy" pitchFamily="34" charset="-122"/>
                <a:cs typeface="思源宋体-思源宋体-Heavy" pitchFamily="34" charset="-120"/>
              </a:rPr>
              <a:t>05</a:t>
            </a:r>
            <a:endParaRPr lang="en-US" sz="5120" dirty="0"/>
          </a:p>
        </p:txBody>
      </p:sp>
      <p:sp>
        <p:nvSpPr>
          <p:cNvPr id="9" name="Text 4"/>
          <p:cNvSpPr/>
          <p:nvPr/>
        </p:nvSpPr>
        <p:spPr>
          <a:xfrm>
            <a:off x="832104" y="3712464"/>
            <a:ext cx="12984480" cy="594360"/>
          </a:xfrm>
          <a:prstGeom prst="rect">
            <a:avLst/>
          </a:prstGeom>
          <a:noFill/>
          <a:ln/>
        </p:spPr>
        <p:txBody>
          <a:bodyPr wrap="none" lIns="0" tIns="0" rIns="0" bIns="0" rtlCol="0" anchor="ctr"/>
          <a:lstStyle/>
          <a:p>
            <a:pPr algn="l" indent="0" marL="0">
              <a:lnSpc>
                <a:spcPts val="4640"/>
              </a:lnSpc>
              <a:buNone/>
            </a:pPr>
            <a:r>
              <a:rPr lang="en-US" sz="3710" i="1" dirty="0">
                <a:solidFill>
                  <a:srgbClr val="3F4460"/>
                </a:solidFill>
                <a:latin typeface="思源宋体-思源宋体-Heavy" pitchFamily="34" charset="0"/>
                <a:ea typeface="思源宋体-思源宋体-Heavy" pitchFamily="34" charset="-122"/>
                <a:cs typeface="思源宋体-思源宋体-Heavy" pitchFamily="34" charset="-120"/>
              </a:rPr>
              <a:t>Python Data Analysis</a:t>
            </a:r>
            <a:endParaRPr lang="en-US" sz="3710" dirty="0"/>
          </a:p>
        </p:txBody>
      </p:sp>
      <p:sp>
        <p:nvSpPr>
          <p:cNvPr id="10" name="Text 5"/>
          <p:cNvSpPr/>
          <p:nvPr/>
        </p:nvSpPr>
        <p:spPr>
          <a:xfrm>
            <a:off x="832104" y="4517136"/>
            <a:ext cx="12984480" cy="594360"/>
          </a:xfrm>
          <a:prstGeom prst="rect">
            <a:avLst/>
          </a:prstGeom>
          <a:noFill/>
          <a:ln/>
        </p:spPr>
        <p:txBody>
          <a:bodyPr wrap="none" lIns="0" tIns="0" rIns="0" bIns="0" rtlCol="0" anchor="ctr"/>
          <a:lstStyle/>
          <a:p>
            <a:pPr algn="l" indent="0" marL="0">
              <a:lnSpc>
                <a:spcPts val="4640"/>
              </a:lnSpc>
              <a:buNone/>
            </a:pPr>
            <a:r>
              <a:rPr lang="en-US" sz="3710" i="1" dirty="0">
                <a:solidFill>
                  <a:srgbClr val="3F4460"/>
                </a:solidFill>
                <a:latin typeface="思源宋体-思源宋体-Heavy" pitchFamily="34" charset="0"/>
                <a:ea typeface="思源宋体-思源宋体-Heavy" pitchFamily="34" charset="-122"/>
                <a:cs typeface="思源宋体-思源宋体-Heavy" pitchFamily="34" charset="-120"/>
              </a:rPr>
              <a:t> </a:t>
            </a:r>
            <a:endParaRPr lang="en-US" sz="3710" dirty="0"/>
          </a:p>
        </p:txBody>
      </p:sp>
      <p:sp>
        <p:nvSpPr>
          <p:cNvPr id="11" name="Text 6"/>
          <p:cNvSpPr/>
          <p:nvPr/>
        </p:nvSpPr>
        <p:spPr>
          <a:xfrm>
            <a:off x="832104" y="555040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2" name="Text 7"/>
          <p:cNvSpPr/>
          <p:nvPr/>
        </p:nvSpPr>
        <p:spPr>
          <a:xfrm>
            <a:off x="832104" y="5998464"/>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3" name="Text 8"/>
          <p:cNvSpPr/>
          <p:nvPr/>
        </p:nvSpPr>
        <p:spPr>
          <a:xfrm>
            <a:off x="832104" y="6446520"/>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4974336" cy="8238744"/>
          </a:xfrm>
          <a:prstGeom prst="rect">
            <a:avLst/>
          </a:prstGeom>
        </p:spPr>
      </p:pic>
      <p:sp>
        <p:nvSpPr>
          <p:cNvPr id="4" name="Text 0"/>
          <p:cNvSpPr/>
          <p:nvPr/>
        </p:nvSpPr>
        <p:spPr>
          <a:xfrm>
            <a:off x="5806440" y="2148840"/>
            <a:ext cx="8010144" cy="594360"/>
          </a:xfrm>
          <a:prstGeom prst="rect">
            <a:avLst/>
          </a:prstGeom>
          <a:noFill/>
          <a:ln/>
        </p:spPr>
        <p:txBody>
          <a:bodyPr wrap="non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Data Processing &amp; Cleaning</a:t>
            </a:r>
            <a:endParaRPr lang="en-US" sz="3710" dirty="0"/>
          </a:p>
        </p:txBody>
      </p:sp>
      <p:sp>
        <p:nvSpPr>
          <p:cNvPr id="5" name="Text 1"/>
          <p:cNvSpPr/>
          <p:nvPr/>
        </p:nvSpPr>
        <p:spPr>
          <a:xfrm>
            <a:off x="5806440" y="2953512"/>
            <a:ext cx="8010144"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6" name="Text 2"/>
          <p:cNvSpPr/>
          <p:nvPr/>
        </p:nvSpPr>
        <p:spPr>
          <a:xfrm>
            <a:off x="5806440" y="3401568"/>
            <a:ext cx="8010144"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Removed missing and duplicate records for clean analysis</a:t>
            </a:r>
            <a:endParaRPr lang="en-US" sz="1480" dirty="0"/>
          </a:p>
        </p:txBody>
      </p:sp>
      <p:sp>
        <p:nvSpPr>
          <p:cNvPr id="7" name="Text 3"/>
          <p:cNvSpPr/>
          <p:nvPr/>
        </p:nvSpPr>
        <p:spPr>
          <a:xfrm>
            <a:off x="5806440" y="3849624"/>
            <a:ext cx="8010144"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Converted data types (e.g., dates, numeric fields)</a:t>
            </a:r>
            <a:endParaRPr lang="en-US" sz="1480" dirty="0"/>
          </a:p>
        </p:txBody>
      </p:sp>
      <p:sp>
        <p:nvSpPr>
          <p:cNvPr id="8" name="Text 4"/>
          <p:cNvSpPr/>
          <p:nvPr/>
        </p:nvSpPr>
        <p:spPr>
          <a:xfrm>
            <a:off x="5806440" y="4297680"/>
            <a:ext cx="8010144"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Merged all tables into one unified dataset</a:t>
            </a:r>
            <a:endParaRPr lang="en-US" sz="1480" dirty="0"/>
          </a:p>
        </p:txBody>
      </p:sp>
      <p:sp>
        <p:nvSpPr>
          <p:cNvPr id="9" name="Text 5"/>
          <p:cNvSpPr/>
          <p:nvPr/>
        </p:nvSpPr>
        <p:spPr>
          <a:xfrm>
            <a:off x="5806440" y="4745736"/>
            <a:ext cx="8010144"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Calculated new fields such as Profit and Profit Margin</a:t>
            </a:r>
            <a:endParaRPr lang="en-US" sz="1480" dirty="0"/>
          </a:p>
        </p:txBody>
      </p:sp>
      <p:sp>
        <p:nvSpPr>
          <p:cNvPr id="10" name="Text 6"/>
          <p:cNvSpPr/>
          <p:nvPr/>
        </p:nvSpPr>
        <p:spPr>
          <a:xfrm>
            <a:off x="5806440" y="5193792"/>
            <a:ext cx="8010144"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Ensured data consistency across products, regions, and salespeople</a:t>
            </a:r>
            <a:endParaRPr lang="en-US" sz="1480" dirty="0"/>
          </a:p>
        </p:txBody>
      </p:sp>
      <p:sp>
        <p:nvSpPr>
          <p:cNvPr id="11" name="Text 7"/>
          <p:cNvSpPr/>
          <p:nvPr/>
        </p:nvSpPr>
        <p:spPr>
          <a:xfrm>
            <a:off x="5806440" y="5641848"/>
            <a:ext cx="8010144" cy="237744"/>
          </a:xfrm>
          <a:prstGeom prst="rect">
            <a:avLst/>
          </a:prstGeom>
          <a:noFill/>
          <a:ln/>
        </p:spPr>
        <p:txBody>
          <a:bodyPr wrap="none" lIns="0" tIns="0" rIns="0" bIns="0" rtlCol="0" anchor="ctr"/>
          <a:lstStyle/>
          <a:p>
            <a:pPr algn="l" indent="0" marL="0">
              <a:lnSpc>
                <a:spcPts val="1850"/>
              </a:lnSpc>
              <a:buNone/>
            </a:pPr>
            <a:endParaRPr lang="en-US" sz="14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4974336" cy="8238744"/>
          </a:xfrm>
          <a:prstGeom prst="rect">
            <a:avLst/>
          </a:prstGeom>
        </p:spPr>
      </p:pic>
      <p:pic>
        <p:nvPicPr>
          <p:cNvPr id="4" name="Image 2" descr="preencoded.png">    </p:cNvPr>
          <p:cNvPicPr>
            <a:picLocks noChangeAspect="1"/>
          </p:cNvPicPr>
          <p:nvPr/>
        </p:nvPicPr>
        <p:blipFill>
          <a:blip r:embed="rId3"/>
          <a:stretch>
            <a:fillRect/>
          </a:stretch>
        </p:blipFill>
        <p:spPr>
          <a:xfrm>
            <a:off x="5806440" y="3776472"/>
            <a:ext cx="3913632" cy="722376"/>
          </a:xfrm>
          <a:prstGeom prst="rect">
            <a:avLst/>
          </a:prstGeom>
        </p:spPr>
      </p:pic>
      <p:pic>
        <p:nvPicPr>
          <p:cNvPr id="5" name="Image 3" descr="preencoded.png">    </p:cNvPr>
          <p:cNvPicPr>
            <a:picLocks noChangeAspect="1"/>
          </p:cNvPicPr>
          <p:nvPr/>
        </p:nvPicPr>
        <p:blipFill>
          <a:blip r:embed="rId4"/>
          <a:stretch>
            <a:fillRect/>
          </a:stretch>
        </p:blipFill>
        <p:spPr>
          <a:xfrm>
            <a:off x="5806440" y="4690872"/>
            <a:ext cx="3913632" cy="722376"/>
          </a:xfrm>
          <a:prstGeom prst="rect">
            <a:avLst/>
          </a:prstGeom>
        </p:spPr>
      </p:pic>
      <p:pic>
        <p:nvPicPr>
          <p:cNvPr id="6" name="Image 4" descr="preencoded.png">    </p:cNvPr>
          <p:cNvPicPr>
            <a:picLocks noChangeAspect="1"/>
          </p:cNvPicPr>
          <p:nvPr/>
        </p:nvPicPr>
        <p:blipFill>
          <a:blip r:embed="rId5"/>
          <a:stretch>
            <a:fillRect/>
          </a:stretch>
        </p:blipFill>
        <p:spPr>
          <a:xfrm>
            <a:off x="9902952" y="3776472"/>
            <a:ext cx="3913632" cy="722376"/>
          </a:xfrm>
          <a:prstGeom prst="rect">
            <a:avLst/>
          </a:prstGeom>
        </p:spPr>
      </p:pic>
      <p:pic>
        <p:nvPicPr>
          <p:cNvPr id="7" name="Image 5" descr="preencoded.png">    </p:cNvPr>
          <p:cNvPicPr>
            <a:picLocks noChangeAspect="1"/>
          </p:cNvPicPr>
          <p:nvPr/>
        </p:nvPicPr>
        <p:blipFill>
          <a:blip r:embed="rId6"/>
          <a:stretch>
            <a:fillRect/>
          </a:stretch>
        </p:blipFill>
        <p:spPr>
          <a:xfrm>
            <a:off x="9902952" y="4690872"/>
            <a:ext cx="3913632" cy="722376"/>
          </a:xfrm>
          <a:prstGeom prst="rect">
            <a:avLst/>
          </a:prstGeom>
        </p:spPr>
      </p:pic>
      <p:sp>
        <p:nvSpPr>
          <p:cNvPr id="8" name="Text 0"/>
          <p:cNvSpPr/>
          <p:nvPr/>
        </p:nvSpPr>
        <p:spPr>
          <a:xfrm>
            <a:off x="5806440" y="1728216"/>
            <a:ext cx="8010144" cy="594360"/>
          </a:xfrm>
          <a:prstGeom prst="rect">
            <a:avLst/>
          </a:prstGeom>
          <a:noFill/>
          <a:ln/>
        </p:spPr>
        <p:txBody>
          <a:bodyPr wrap="none" lIns="0" tIns="0" rIns="0" bIns="0" rtlCol="0" anchor="ctr"/>
          <a:lstStyle/>
          <a:p>
            <a:pPr algn="l" indent="0" marL="0">
              <a:lnSpc>
                <a:spcPts val="4640"/>
              </a:lnSpc>
              <a:buNone/>
            </a:pPr>
            <a:endParaRPr lang="en-US" sz="3710" dirty="0"/>
          </a:p>
        </p:txBody>
      </p:sp>
      <p:sp>
        <p:nvSpPr>
          <p:cNvPr id="9" name="Text 1"/>
          <p:cNvSpPr/>
          <p:nvPr/>
        </p:nvSpPr>
        <p:spPr>
          <a:xfrm>
            <a:off x="5806440" y="2523744"/>
            <a:ext cx="8010144" cy="594360"/>
          </a:xfrm>
          <a:prstGeom prst="rect">
            <a:avLst/>
          </a:prstGeom>
          <a:noFill/>
          <a:ln/>
        </p:spPr>
        <p:txBody>
          <a:bodyPr wrap="non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Statistical Analysis</a:t>
            </a:r>
            <a:endParaRPr lang="en-US" sz="3710" dirty="0"/>
          </a:p>
        </p:txBody>
      </p:sp>
      <p:sp>
        <p:nvSpPr>
          <p:cNvPr id="10" name="Text 2"/>
          <p:cNvSpPr/>
          <p:nvPr/>
        </p:nvSpPr>
        <p:spPr>
          <a:xfrm>
            <a:off x="5806440" y="3328416"/>
            <a:ext cx="8010144"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1" name="Text 3"/>
          <p:cNvSpPr/>
          <p:nvPr/>
        </p:nvSpPr>
        <p:spPr>
          <a:xfrm>
            <a:off x="6025896" y="3904488"/>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Skewness treatment using log transformation</a:t>
            </a:r>
            <a:endParaRPr lang="en-US" sz="1480" dirty="0"/>
          </a:p>
        </p:txBody>
      </p:sp>
      <p:sp>
        <p:nvSpPr>
          <p:cNvPr id="12" name="Text 4"/>
          <p:cNvSpPr/>
          <p:nvPr/>
        </p:nvSpPr>
        <p:spPr>
          <a:xfrm>
            <a:off x="6025896" y="4809744"/>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Outlier detection and treatment strategies</a:t>
            </a:r>
            <a:endParaRPr lang="en-US" sz="1480" dirty="0"/>
          </a:p>
        </p:txBody>
      </p:sp>
      <p:sp>
        <p:nvSpPr>
          <p:cNvPr id="13" name="Text 5"/>
          <p:cNvSpPr/>
          <p:nvPr/>
        </p:nvSpPr>
        <p:spPr>
          <a:xfrm>
            <a:off x="5806440" y="5623560"/>
            <a:ext cx="8010144"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4" name="Text 6"/>
          <p:cNvSpPr/>
          <p:nvPr/>
        </p:nvSpPr>
        <p:spPr>
          <a:xfrm>
            <a:off x="5806440" y="6071616"/>
            <a:ext cx="8010144"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5" name="Text 7"/>
          <p:cNvSpPr/>
          <p:nvPr/>
        </p:nvSpPr>
        <p:spPr>
          <a:xfrm>
            <a:off x="10122408" y="3904488"/>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Correlation analysis between business metrics</a:t>
            </a:r>
            <a:endParaRPr lang="en-US" sz="1480" dirty="0"/>
          </a:p>
        </p:txBody>
      </p:sp>
      <p:sp>
        <p:nvSpPr>
          <p:cNvPr id="16" name="Text 8"/>
          <p:cNvSpPr/>
          <p:nvPr/>
        </p:nvSpPr>
        <p:spPr>
          <a:xfrm>
            <a:off x="10122408" y="4809744"/>
            <a:ext cx="3474720"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Distribution analysis for key performance indicators</a:t>
            </a:r>
            <a:endParaRPr lang="en-US" sz="14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8238744"/>
          </a:xfrm>
          <a:prstGeom prst="rect">
            <a:avLst/>
          </a:prstGeom>
        </p:spPr>
      </p:pic>
      <p:pic>
        <p:nvPicPr>
          <p:cNvPr id="4" name="Image 2" descr="preencoded.png">    </p:cNvPr>
          <p:cNvPicPr>
            <a:picLocks noChangeAspect="1"/>
          </p:cNvPicPr>
          <p:nvPr/>
        </p:nvPicPr>
        <p:blipFill>
          <a:blip r:embed="rId3"/>
          <a:stretch>
            <a:fillRect/>
          </a:stretch>
        </p:blipFill>
        <p:spPr>
          <a:xfrm>
            <a:off x="832104" y="5321808"/>
            <a:ext cx="12984480" cy="27432"/>
          </a:xfrm>
          <a:prstGeom prst="rect">
            <a:avLst/>
          </a:prstGeom>
        </p:spPr>
      </p:pic>
      <p:sp>
        <p:nvSpPr>
          <p:cNvPr id="5" name="Text 0"/>
          <p:cNvSpPr/>
          <p:nvPr/>
        </p:nvSpPr>
        <p:spPr>
          <a:xfrm>
            <a:off x="832104" y="134416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6" name="Text 1"/>
          <p:cNvSpPr/>
          <p:nvPr/>
        </p:nvSpPr>
        <p:spPr>
          <a:xfrm>
            <a:off x="832104" y="1792224"/>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7" name="Text 2"/>
          <p:cNvSpPr/>
          <p:nvPr/>
        </p:nvSpPr>
        <p:spPr>
          <a:xfrm>
            <a:off x="832104" y="2240280"/>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8" name="Text 3"/>
          <p:cNvSpPr/>
          <p:nvPr/>
        </p:nvSpPr>
        <p:spPr>
          <a:xfrm>
            <a:off x="832104" y="2688336"/>
            <a:ext cx="12984480" cy="822960"/>
          </a:xfrm>
          <a:prstGeom prst="rect">
            <a:avLst/>
          </a:prstGeom>
          <a:noFill/>
          <a:ln/>
        </p:spPr>
        <p:txBody>
          <a:bodyPr wrap="none" lIns="0" tIns="0" rIns="0" bIns="0" rtlCol="0" anchor="ctr"/>
          <a:lstStyle/>
          <a:p>
            <a:pPr algn="l" indent="0" marL="0">
              <a:lnSpc>
                <a:spcPts val="6410"/>
              </a:lnSpc>
              <a:buNone/>
            </a:pPr>
            <a:r>
              <a:rPr lang="en-US" sz="5120" i="1" dirty="0">
                <a:solidFill>
                  <a:srgbClr val="3F4460"/>
                </a:solidFill>
                <a:latin typeface="思源宋体-思源宋体-Heavy" pitchFamily="34" charset="0"/>
                <a:ea typeface="思源宋体-思源宋体-Heavy" pitchFamily="34" charset="-122"/>
                <a:cs typeface="思源宋体-思源宋体-Heavy" pitchFamily="34" charset="-120"/>
              </a:rPr>
              <a:t>06</a:t>
            </a:r>
            <a:endParaRPr lang="en-US" sz="5120" dirty="0"/>
          </a:p>
        </p:txBody>
      </p:sp>
      <p:sp>
        <p:nvSpPr>
          <p:cNvPr id="9" name="Text 4"/>
          <p:cNvSpPr/>
          <p:nvPr/>
        </p:nvSpPr>
        <p:spPr>
          <a:xfrm>
            <a:off x="832104" y="3712464"/>
            <a:ext cx="12984480" cy="594360"/>
          </a:xfrm>
          <a:prstGeom prst="rect">
            <a:avLst/>
          </a:prstGeom>
          <a:noFill/>
          <a:ln/>
        </p:spPr>
        <p:txBody>
          <a:bodyPr wrap="none" lIns="0" tIns="0" rIns="0" bIns="0" rtlCol="0" anchor="ctr"/>
          <a:lstStyle/>
          <a:p>
            <a:pPr algn="l" indent="0" marL="0">
              <a:lnSpc>
                <a:spcPts val="4640"/>
              </a:lnSpc>
              <a:buNone/>
            </a:pPr>
            <a:r>
              <a:rPr lang="en-US" sz="3710" i="1" dirty="0">
                <a:solidFill>
                  <a:srgbClr val="3F4460"/>
                </a:solidFill>
                <a:latin typeface="思源宋体-思源宋体-Heavy" pitchFamily="34" charset="0"/>
                <a:ea typeface="思源宋体-思源宋体-Heavy" pitchFamily="34" charset="-122"/>
                <a:cs typeface="思源宋体-思源宋体-Heavy" pitchFamily="34" charset="-120"/>
              </a:rPr>
              <a:t>Key Insights and Recommendations</a:t>
            </a:r>
            <a:endParaRPr lang="en-US" sz="3710" dirty="0"/>
          </a:p>
        </p:txBody>
      </p:sp>
      <p:sp>
        <p:nvSpPr>
          <p:cNvPr id="10" name="Text 5"/>
          <p:cNvSpPr/>
          <p:nvPr/>
        </p:nvSpPr>
        <p:spPr>
          <a:xfrm>
            <a:off x="832104" y="4517136"/>
            <a:ext cx="12984480" cy="594360"/>
          </a:xfrm>
          <a:prstGeom prst="rect">
            <a:avLst/>
          </a:prstGeom>
          <a:noFill/>
          <a:ln/>
        </p:spPr>
        <p:txBody>
          <a:bodyPr wrap="none" lIns="0" tIns="0" rIns="0" bIns="0" rtlCol="0" anchor="ctr"/>
          <a:lstStyle/>
          <a:p>
            <a:pPr algn="l" indent="0" marL="0">
              <a:lnSpc>
                <a:spcPts val="4640"/>
              </a:lnSpc>
              <a:buNone/>
            </a:pPr>
            <a:r>
              <a:rPr lang="en-US" sz="3710" i="1" dirty="0">
                <a:solidFill>
                  <a:srgbClr val="3F4460"/>
                </a:solidFill>
                <a:latin typeface="思源宋体-思源宋体-Heavy" pitchFamily="34" charset="0"/>
                <a:ea typeface="思源宋体-思源宋体-Heavy" pitchFamily="34" charset="-122"/>
                <a:cs typeface="思源宋体-思源宋体-Heavy" pitchFamily="34" charset="-120"/>
              </a:rPr>
              <a:t> </a:t>
            </a:r>
            <a:endParaRPr lang="en-US" sz="3710" dirty="0"/>
          </a:p>
        </p:txBody>
      </p:sp>
      <p:sp>
        <p:nvSpPr>
          <p:cNvPr id="11" name="Text 6"/>
          <p:cNvSpPr/>
          <p:nvPr/>
        </p:nvSpPr>
        <p:spPr>
          <a:xfrm>
            <a:off x="832104" y="555040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2" name="Text 7"/>
          <p:cNvSpPr/>
          <p:nvPr/>
        </p:nvSpPr>
        <p:spPr>
          <a:xfrm>
            <a:off x="832104" y="5998464"/>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3" name="Text 8"/>
          <p:cNvSpPr/>
          <p:nvPr/>
        </p:nvSpPr>
        <p:spPr>
          <a:xfrm>
            <a:off x="832104" y="6446520"/>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8238744"/>
          </a:xfrm>
          <a:prstGeom prst="rect">
            <a:avLst/>
          </a:prstGeom>
        </p:spPr>
      </p:pic>
      <p:pic>
        <p:nvPicPr>
          <p:cNvPr id="4" name="Image 2" descr="preencoded.png">    </p:cNvPr>
          <p:cNvPicPr>
            <a:picLocks noChangeAspect="1"/>
          </p:cNvPicPr>
          <p:nvPr/>
        </p:nvPicPr>
        <p:blipFill>
          <a:blip r:embed="rId3"/>
          <a:stretch>
            <a:fillRect/>
          </a:stretch>
        </p:blipFill>
        <p:spPr>
          <a:xfrm>
            <a:off x="841248" y="2020824"/>
            <a:ext cx="4178808" cy="4791456"/>
          </a:xfrm>
          <a:prstGeom prst="rect">
            <a:avLst/>
          </a:prstGeom>
        </p:spPr>
      </p:pic>
      <p:pic>
        <p:nvPicPr>
          <p:cNvPr id="5" name="Image 3" descr="preencoded.png">    </p:cNvPr>
          <p:cNvPicPr>
            <a:picLocks noChangeAspect="1"/>
          </p:cNvPicPr>
          <p:nvPr/>
        </p:nvPicPr>
        <p:blipFill>
          <a:blip r:embed="rId4"/>
          <a:stretch>
            <a:fillRect/>
          </a:stretch>
        </p:blipFill>
        <p:spPr>
          <a:xfrm>
            <a:off x="5230368" y="2020824"/>
            <a:ext cx="4178808" cy="4791456"/>
          </a:xfrm>
          <a:prstGeom prst="rect">
            <a:avLst/>
          </a:prstGeom>
        </p:spPr>
      </p:pic>
      <p:pic>
        <p:nvPicPr>
          <p:cNvPr id="6" name="Image 4" descr="preencoded.png">    </p:cNvPr>
          <p:cNvPicPr>
            <a:picLocks noChangeAspect="1"/>
          </p:cNvPicPr>
          <p:nvPr/>
        </p:nvPicPr>
        <p:blipFill>
          <a:blip r:embed="rId5"/>
          <a:stretch>
            <a:fillRect/>
          </a:stretch>
        </p:blipFill>
        <p:spPr>
          <a:xfrm>
            <a:off x="9619488" y="2020824"/>
            <a:ext cx="4178808" cy="4791456"/>
          </a:xfrm>
          <a:prstGeom prst="rect">
            <a:avLst/>
          </a:prstGeom>
        </p:spPr>
      </p:pic>
      <p:pic>
        <p:nvPicPr>
          <p:cNvPr id="7" name="Image 5" descr="preencoded.png">    </p:cNvPr>
          <p:cNvPicPr>
            <a:picLocks noChangeAspect="1"/>
          </p:cNvPicPr>
          <p:nvPr/>
        </p:nvPicPr>
        <p:blipFill>
          <a:blip r:embed="rId6"/>
          <a:stretch>
            <a:fillRect/>
          </a:stretch>
        </p:blipFill>
        <p:spPr>
          <a:xfrm>
            <a:off x="832104" y="2340864"/>
            <a:ext cx="4206240" cy="4489704"/>
          </a:xfrm>
          <a:prstGeom prst="rect">
            <a:avLst/>
          </a:prstGeom>
        </p:spPr>
      </p:pic>
      <p:pic>
        <p:nvPicPr>
          <p:cNvPr id="8" name="Image 6" descr="preencoded.png">    </p:cNvPr>
          <p:cNvPicPr>
            <a:picLocks noChangeAspect="1"/>
          </p:cNvPicPr>
          <p:nvPr/>
        </p:nvPicPr>
        <p:blipFill>
          <a:blip r:embed="rId7"/>
          <a:stretch>
            <a:fillRect/>
          </a:stretch>
        </p:blipFill>
        <p:spPr>
          <a:xfrm>
            <a:off x="5221224" y="2340864"/>
            <a:ext cx="4206240" cy="4489704"/>
          </a:xfrm>
          <a:prstGeom prst="rect">
            <a:avLst/>
          </a:prstGeom>
        </p:spPr>
      </p:pic>
      <p:pic>
        <p:nvPicPr>
          <p:cNvPr id="9" name="Image 7" descr="preencoded.png">    </p:cNvPr>
          <p:cNvPicPr>
            <a:picLocks noChangeAspect="1"/>
          </p:cNvPicPr>
          <p:nvPr/>
        </p:nvPicPr>
        <p:blipFill>
          <a:blip r:embed="rId8"/>
          <a:stretch>
            <a:fillRect/>
          </a:stretch>
        </p:blipFill>
        <p:spPr>
          <a:xfrm>
            <a:off x="9610344" y="2340864"/>
            <a:ext cx="4206240" cy="4489704"/>
          </a:xfrm>
          <a:prstGeom prst="rect">
            <a:avLst/>
          </a:prstGeom>
        </p:spPr>
      </p:pic>
      <p:pic>
        <p:nvPicPr>
          <p:cNvPr id="10" name="Image 8" descr="preencoded.png">    </p:cNvPr>
          <p:cNvPicPr>
            <a:picLocks noChangeAspect="1"/>
          </p:cNvPicPr>
          <p:nvPr/>
        </p:nvPicPr>
        <p:blipFill>
          <a:blip r:embed="rId9"/>
          <a:stretch>
            <a:fillRect/>
          </a:stretch>
        </p:blipFill>
        <p:spPr>
          <a:xfrm>
            <a:off x="832104" y="2240280"/>
            <a:ext cx="4206240" cy="128016"/>
          </a:xfrm>
          <a:prstGeom prst="rect">
            <a:avLst/>
          </a:prstGeom>
        </p:spPr>
      </p:pic>
      <p:pic>
        <p:nvPicPr>
          <p:cNvPr id="11" name="Image 9" descr="preencoded.png">    </p:cNvPr>
          <p:cNvPicPr>
            <a:picLocks noChangeAspect="1"/>
          </p:cNvPicPr>
          <p:nvPr/>
        </p:nvPicPr>
        <p:blipFill>
          <a:blip r:embed="rId10"/>
          <a:stretch>
            <a:fillRect/>
          </a:stretch>
        </p:blipFill>
        <p:spPr>
          <a:xfrm>
            <a:off x="5221224" y="2240280"/>
            <a:ext cx="4206240" cy="128016"/>
          </a:xfrm>
          <a:prstGeom prst="rect">
            <a:avLst/>
          </a:prstGeom>
        </p:spPr>
      </p:pic>
      <p:pic>
        <p:nvPicPr>
          <p:cNvPr id="12" name="Image 10" descr="preencoded.png">    </p:cNvPr>
          <p:cNvPicPr>
            <a:picLocks noChangeAspect="1"/>
          </p:cNvPicPr>
          <p:nvPr/>
        </p:nvPicPr>
        <p:blipFill>
          <a:blip r:embed="rId11"/>
          <a:stretch>
            <a:fillRect/>
          </a:stretch>
        </p:blipFill>
        <p:spPr>
          <a:xfrm>
            <a:off x="9610344" y="2240280"/>
            <a:ext cx="4206240" cy="128016"/>
          </a:xfrm>
          <a:prstGeom prst="rect">
            <a:avLst/>
          </a:prstGeom>
        </p:spPr>
      </p:pic>
      <p:pic>
        <p:nvPicPr>
          <p:cNvPr id="13" name="Image 11" descr="preencoded.png">    </p:cNvPr>
          <p:cNvPicPr>
            <a:picLocks noChangeAspect="1"/>
          </p:cNvPicPr>
          <p:nvPr/>
        </p:nvPicPr>
        <p:blipFill>
          <a:blip r:embed="rId12"/>
          <a:stretch>
            <a:fillRect/>
          </a:stretch>
        </p:blipFill>
        <p:spPr>
          <a:xfrm>
            <a:off x="2651760" y="2020824"/>
            <a:ext cx="566928" cy="566928"/>
          </a:xfrm>
          <a:prstGeom prst="rect">
            <a:avLst/>
          </a:prstGeom>
        </p:spPr>
      </p:pic>
      <p:pic>
        <p:nvPicPr>
          <p:cNvPr id="14" name="Image 12" descr="preencoded.png">    </p:cNvPr>
          <p:cNvPicPr>
            <a:picLocks noChangeAspect="1"/>
          </p:cNvPicPr>
          <p:nvPr/>
        </p:nvPicPr>
        <p:blipFill>
          <a:blip r:embed="rId13"/>
          <a:stretch>
            <a:fillRect/>
          </a:stretch>
        </p:blipFill>
        <p:spPr>
          <a:xfrm>
            <a:off x="7040880" y="2020824"/>
            <a:ext cx="566928" cy="566928"/>
          </a:xfrm>
          <a:prstGeom prst="rect">
            <a:avLst/>
          </a:prstGeom>
        </p:spPr>
      </p:pic>
      <p:pic>
        <p:nvPicPr>
          <p:cNvPr id="15" name="Image 13" descr="preencoded.png">    </p:cNvPr>
          <p:cNvPicPr>
            <a:picLocks noChangeAspect="1"/>
          </p:cNvPicPr>
          <p:nvPr/>
        </p:nvPicPr>
        <p:blipFill>
          <a:blip r:embed="rId14"/>
          <a:stretch>
            <a:fillRect/>
          </a:stretch>
        </p:blipFill>
        <p:spPr>
          <a:xfrm>
            <a:off x="11430000" y="2020824"/>
            <a:ext cx="566928" cy="566928"/>
          </a:xfrm>
          <a:prstGeom prst="rect">
            <a:avLst/>
          </a:prstGeom>
        </p:spPr>
      </p:pic>
      <p:sp>
        <p:nvSpPr>
          <p:cNvPr id="16" name="Text 0"/>
          <p:cNvSpPr/>
          <p:nvPr/>
        </p:nvSpPr>
        <p:spPr>
          <a:xfrm>
            <a:off x="832104" y="1207008"/>
            <a:ext cx="12984480" cy="594360"/>
          </a:xfrm>
          <a:prstGeom prst="rect">
            <a:avLst/>
          </a:prstGeom>
          <a:noFill/>
          <a:ln/>
        </p:spPr>
        <p:txBody>
          <a:bodyPr wrap="non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Performance Patterns</a:t>
            </a:r>
            <a:endParaRPr lang="en-US" sz="3710" dirty="0"/>
          </a:p>
        </p:txBody>
      </p:sp>
      <p:sp>
        <p:nvSpPr>
          <p:cNvPr id="17" name="Text 1"/>
          <p:cNvSpPr/>
          <p:nvPr/>
        </p:nvSpPr>
        <p:spPr>
          <a:xfrm>
            <a:off x="1051560" y="2743200"/>
            <a:ext cx="3767328" cy="301752"/>
          </a:xfrm>
          <a:prstGeom prst="rect">
            <a:avLst/>
          </a:prstGeom>
          <a:noFill/>
          <a:ln/>
        </p:spPr>
        <p:txBody>
          <a:bodyPr wrap="none" lIns="0" tIns="0" rIns="0" bIns="0" rtlCol="0" anchor="ctr"/>
          <a:lstStyle/>
          <a:p>
            <a:pPr algn="ctr"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For Executive Management</a:t>
            </a:r>
            <a:endParaRPr lang="en-US" sz="1850" dirty="0"/>
          </a:p>
        </p:txBody>
      </p:sp>
      <p:sp>
        <p:nvSpPr>
          <p:cNvPr id="18" name="Text 2"/>
          <p:cNvSpPr/>
          <p:nvPr/>
        </p:nvSpPr>
        <p:spPr>
          <a:xfrm>
            <a:off x="1051560" y="3209544"/>
            <a:ext cx="3767328"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20% of salespeople generate 80% of revenue</a:t>
            </a:r>
            <a:endParaRPr lang="en-US" sz="1480" dirty="0"/>
          </a:p>
        </p:txBody>
      </p:sp>
      <p:sp>
        <p:nvSpPr>
          <p:cNvPr id="19" name="Text 3"/>
          <p:cNvSpPr/>
          <p:nvPr/>
        </p:nvSpPr>
        <p:spPr>
          <a:xfrm>
            <a:off x="2871216" y="2121408"/>
            <a:ext cx="128016" cy="374904"/>
          </a:xfrm>
          <a:prstGeom prst="rect">
            <a:avLst/>
          </a:prstGeom>
          <a:noFill/>
          <a:ln/>
        </p:spPr>
        <p:txBody>
          <a:bodyPr wrap="none" lIns="0" tIns="0" rIns="0" bIns="0" rtlCol="0" anchor="ctr"/>
          <a:lstStyle/>
          <a:p>
            <a:pPr algn="l" indent="0" marL="0">
              <a:lnSpc>
                <a:spcPts val="2670"/>
              </a:lnSpc>
              <a:buNone/>
            </a:pPr>
            <a:r>
              <a:rPr lang="en-US" sz="2220" dirty="0">
                <a:solidFill>
                  <a:srgbClr val="454545"/>
                </a:solidFill>
                <a:latin typeface="MiSans-MiSans-Regular" pitchFamily="34" charset="0"/>
                <a:ea typeface="MiSans-MiSans-Regular" pitchFamily="34" charset="-122"/>
                <a:cs typeface="MiSans-MiSans-Regular" pitchFamily="34" charset="-120"/>
              </a:rPr>
              <a:t>1</a:t>
            </a:r>
            <a:endParaRPr lang="en-US" sz="2220" dirty="0"/>
          </a:p>
        </p:txBody>
      </p:sp>
      <p:sp>
        <p:nvSpPr>
          <p:cNvPr id="20" name="Text 4"/>
          <p:cNvSpPr/>
          <p:nvPr/>
        </p:nvSpPr>
        <p:spPr>
          <a:xfrm>
            <a:off x="1051560" y="3849624"/>
            <a:ext cx="3767328" cy="237744"/>
          </a:xfrm>
          <a:prstGeom prst="rect">
            <a:avLst/>
          </a:prstGeom>
          <a:noFill/>
          <a:ln/>
        </p:spPr>
        <p:txBody>
          <a:bodyPr wrap="none" lIns="0" tIns="0" rIns="0" bIns="0" rtlCol="0" anchor="ctr"/>
          <a:lstStyle/>
          <a:p>
            <a:pPr algn="l" indent="0" marL="0">
              <a:lnSpc>
                <a:spcPts val="1850"/>
              </a:lnSpc>
              <a:buNone/>
            </a:pPr>
            <a:r>
              <a:rPr lang="en-US" sz="1480" b="1" dirty="0">
                <a:solidFill>
                  <a:srgbClr val="424242"/>
                </a:solidFill>
                <a:latin typeface="MiSans-MiSans-Regular" pitchFamily="34" charset="0"/>
                <a:ea typeface="MiSans-MiSans-Regular" pitchFamily="34" charset="-122"/>
                <a:cs typeface="MiSans-MiSans-Regular" pitchFamily="34" charset="-120"/>
              </a:rPr>
              <a:t>Recommended Action:</a:t>
            </a:r>
            <a:endParaRPr lang="en-US" sz="1480" dirty="0"/>
          </a:p>
          <a:p>
            <a:pPr algn="l" indent="0" marL="0">
              <a:lnSpc>
                <a:spcPts val="1850"/>
              </a:lnSpc>
              <a:buNone/>
            </a:pPr>
            <a:endParaRPr lang="en-US" sz="1480" dirty="0"/>
          </a:p>
        </p:txBody>
      </p:sp>
      <p:sp>
        <p:nvSpPr>
          <p:cNvPr id="21" name="Text 5"/>
          <p:cNvSpPr/>
          <p:nvPr/>
        </p:nvSpPr>
        <p:spPr>
          <a:xfrm>
            <a:off x="1051560" y="4261104"/>
            <a:ext cx="3767328"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Implement tiered coaching programs</a:t>
            </a:r>
            <a:endParaRPr lang="en-US" sz="1480" dirty="0"/>
          </a:p>
          <a:p>
            <a:pPr algn="l" marL="342900" indent="-342900">
              <a:lnSpc>
                <a:spcPts val="1850"/>
              </a:lnSpc>
              <a:buSzPct val="100000"/>
              <a:buChar char="•"/>
            </a:pPr>
            <a:endParaRPr lang="en-US" sz="1480" dirty="0"/>
          </a:p>
        </p:txBody>
      </p:sp>
      <p:sp>
        <p:nvSpPr>
          <p:cNvPr id="22" name="Text 6"/>
          <p:cNvSpPr/>
          <p:nvPr/>
        </p:nvSpPr>
        <p:spPr>
          <a:xfrm>
            <a:off x="1051560" y="4663440"/>
            <a:ext cx="3767328"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Review compensation structure</a:t>
            </a:r>
            <a:endParaRPr lang="en-US" sz="1480" dirty="0"/>
          </a:p>
          <a:p>
            <a:pPr algn="l" marL="342900" indent="-342900">
              <a:lnSpc>
                <a:spcPts val="1850"/>
              </a:lnSpc>
              <a:buSzPct val="100000"/>
              <a:buChar char="•"/>
            </a:pPr>
            <a:endParaRPr lang="en-US" sz="1480" dirty="0"/>
          </a:p>
        </p:txBody>
      </p:sp>
      <p:sp>
        <p:nvSpPr>
          <p:cNvPr id="23" name="Text 7"/>
          <p:cNvSpPr/>
          <p:nvPr/>
        </p:nvSpPr>
        <p:spPr>
          <a:xfrm>
            <a:off x="1051560" y="5065776"/>
            <a:ext cx="3767328" cy="475488"/>
          </a:xfrm>
          <a:prstGeom prst="rect">
            <a:avLst/>
          </a:prstGeom>
          <a:noFill/>
          <a:ln/>
        </p:spPr>
        <p:txBody>
          <a:bodyPr wrap="squar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Develop succession planning for top performers</a:t>
            </a:r>
            <a:endParaRPr lang="en-US" sz="1480" dirty="0"/>
          </a:p>
        </p:txBody>
      </p:sp>
      <p:sp>
        <p:nvSpPr>
          <p:cNvPr id="24" name="Text 8"/>
          <p:cNvSpPr/>
          <p:nvPr/>
        </p:nvSpPr>
        <p:spPr>
          <a:xfrm>
            <a:off x="5440680" y="2743200"/>
            <a:ext cx="3767328" cy="301752"/>
          </a:xfrm>
          <a:prstGeom prst="rect">
            <a:avLst/>
          </a:prstGeom>
          <a:noFill/>
          <a:ln/>
        </p:spPr>
        <p:txBody>
          <a:bodyPr wrap="none" lIns="0" tIns="0" rIns="0" bIns="0" rtlCol="0" anchor="ctr"/>
          <a:lstStyle/>
          <a:p>
            <a:pPr algn="ctr"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For Product Managers</a:t>
            </a:r>
            <a:endParaRPr lang="en-US" sz="1850" dirty="0"/>
          </a:p>
        </p:txBody>
      </p:sp>
      <p:sp>
        <p:nvSpPr>
          <p:cNvPr id="25" name="Text 9"/>
          <p:cNvSpPr/>
          <p:nvPr/>
        </p:nvSpPr>
        <p:spPr>
          <a:xfrm>
            <a:off x="5440680" y="3209544"/>
            <a:ext cx="3767328" cy="713232"/>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Electric Bikes show 30% month-over-month growth while Kids Bikes are declining</a:t>
            </a:r>
            <a:endParaRPr lang="en-US" sz="1480" dirty="0"/>
          </a:p>
        </p:txBody>
      </p:sp>
      <p:sp>
        <p:nvSpPr>
          <p:cNvPr id="26" name="Text 10"/>
          <p:cNvSpPr/>
          <p:nvPr/>
        </p:nvSpPr>
        <p:spPr>
          <a:xfrm>
            <a:off x="5440680" y="4087368"/>
            <a:ext cx="3767328"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indicating shifting market preferences and product lifecycle stages.</a:t>
            </a:r>
            <a:endParaRPr lang="en-US" sz="1480" dirty="0"/>
          </a:p>
        </p:txBody>
      </p:sp>
      <p:sp>
        <p:nvSpPr>
          <p:cNvPr id="27" name="Text 11"/>
          <p:cNvSpPr/>
          <p:nvPr/>
        </p:nvSpPr>
        <p:spPr>
          <a:xfrm>
            <a:off x="5440680" y="4727448"/>
            <a:ext cx="3767328" cy="237744"/>
          </a:xfrm>
          <a:prstGeom prst="rect">
            <a:avLst/>
          </a:prstGeom>
          <a:noFill/>
          <a:ln/>
        </p:spPr>
        <p:txBody>
          <a:bodyPr wrap="none" lIns="0" tIns="0" rIns="0" bIns="0" rtlCol="0" anchor="ctr"/>
          <a:lstStyle/>
          <a:p>
            <a:pPr algn="l" indent="0" marL="0">
              <a:lnSpc>
                <a:spcPts val="1850"/>
              </a:lnSpc>
              <a:buNone/>
            </a:pPr>
            <a:r>
              <a:rPr lang="en-US" sz="1480" b="1" dirty="0">
                <a:solidFill>
                  <a:srgbClr val="424242"/>
                </a:solidFill>
                <a:latin typeface="MiSans-MiSans-Regular" pitchFamily="34" charset="0"/>
                <a:ea typeface="MiSans-MiSans-Regular" pitchFamily="34" charset="-122"/>
                <a:cs typeface="MiSans-MiSans-Regular" pitchFamily="34" charset="-120"/>
              </a:rPr>
              <a:t>Recommended Action: </a:t>
            </a:r>
            <a:endParaRPr lang="en-US" sz="1480" dirty="0"/>
          </a:p>
        </p:txBody>
      </p:sp>
      <p:sp>
        <p:nvSpPr>
          <p:cNvPr id="28" name="Text 12"/>
          <p:cNvSpPr/>
          <p:nvPr/>
        </p:nvSpPr>
        <p:spPr>
          <a:xfrm>
            <a:off x="5440680" y="5129784"/>
            <a:ext cx="3767328" cy="475488"/>
          </a:xfrm>
          <a:prstGeom prst="rect">
            <a:avLst/>
          </a:prstGeom>
          <a:noFill/>
          <a:ln/>
        </p:spPr>
        <p:txBody>
          <a:bodyPr wrap="squar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Accelerate Electric Bike inventory and marketing</a:t>
            </a:r>
            <a:endParaRPr lang="en-US" sz="1480" dirty="0"/>
          </a:p>
          <a:p>
            <a:pPr algn="l" marL="342900" indent="-342900">
              <a:lnSpc>
                <a:spcPts val="1850"/>
              </a:lnSpc>
              <a:buSzPct val="100000"/>
              <a:buChar char="•"/>
            </a:pPr>
            <a:endParaRPr lang="en-US" sz="1480" dirty="0"/>
          </a:p>
        </p:txBody>
      </p:sp>
      <p:sp>
        <p:nvSpPr>
          <p:cNvPr id="29" name="Text 13"/>
          <p:cNvSpPr/>
          <p:nvPr/>
        </p:nvSpPr>
        <p:spPr>
          <a:xfrm>
            <a:off x="7232904" y="2121408"/>
            <a:ext cx="173736" cy="374904"/>
          </a:xfrm>
          <a:prstGeom prst="rect">
            <a:avLst/>
          </a:prstGeom>
          <a:noFill/>
          <a:ln/>
        </p:spPr>
        <p:txBody>
          <a:bodyPr wrap="none" lIns="0" tIns="0" rIns="0" bIns="0" rtlCol="0" anchor="ctr"/>
          <a:lstStyle/>
          <a:p>
            <a:pPr algn="l" indent="0" marL="0">
              <a:lnSpc>
                <a:spcPts val="2670"/>
              </a:lnSpc>
              <a:buNone/>
            </a:pPr>
            <a:r>
              <a:rPr lang="en-US" sz="2220" dirty="0">
                <a:solidFill>
                  <a:srgbClr val="454545"/>
                </a:solidFill>
                <a:latin typeface="MiSans-MiSans-Regular" pitchFamily="34" charset="0"/>
                <a:ea typeface="MiSans-MiSans-Regular" pitchFamily="34" charset="-122"/>
                <a:cs typeface="MiSans-MiSans-Regular" pitchFamily="34" charset="-120"/>
              </a:rPr>
              <a:t>2</a:t>
            </a:r>
            <a:endParaRPr lang="en-US" sz="2220" dirty="0"/>
          </a:p>
        </p:txBody>
      </p:sp>
      <p:sp>
        <p:nvSpPr>
          <p:cNvPr id="30" name="Text 14"/>
          <p:cNvSpPr/>
          <p:nvPr/>
        </p:nvSpPr>
        <p:spPr>
          <a:xfrm>
            <a:off x="5440680" y="5779008"/>
            <a:ext cx="3767328"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Review Kids Bike product strategy</a:t>
            </a:r>
            <a:endParaRPr lang="en-US" sz="1480" dirty="0"/>
          </a:p>
        </p:txBody>
      </p:sp>
      <p:sp>
        <p:nvSpPr>
          <p:cNvPr id="31" name="Text 15"/>
          <p:cNvSpPr/>
          <p:nvPr/>
        </p:nvSpPr>
        <p:spPr>
          <a:xfrm>
            <a:off x="9829800" y="2743200"/>
            <a:ext cx="3767328" cy="301752"/>
          </a:xfrm>
          <a:prstGeom prst="rect">
            <a:avLst/>
          </a:prstGeom>
          <a:noFill/>
          <a:ln/>
        </p:spPr>
        <p:txBody>
          <a:bodyPr wrap="none" lIns="0" tIns="0" rIns="0" bIns="0" rtlCol="0" anchor="ctr"/>
          <a:lstStyle/>
          <a:p>
            <a:pPr algn="ctr"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For Regional Managers</a:t>
            </a:r>
            <a:endParaRPr lang="en-US" sz="1850" dirty="0"/>
          </a:p>
        </p:txBody>
      </p:sp>
      <p:sp>
        <p:nvSpPr>
          <p:cNvPr id="32" name="Text 16"/>
          <p:cNvSpPr/>
          <p:nvPr/>
        </p:nvSpPr>
        <p:spPr>
          <a:xfrm>
            <a:off x="9829800" y="3209544"/>
            <a:ext cx="3767328" cy="713232"/>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Riyadh region shows 40% higher sales per salesperson </a:t>
            </a:r>
            <a:endParaRPr lang="en-US" sz="1480" dirty="0"/>
          </a:p>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compared to other regions</a:t>
            </a:r>
            <a:endParaRPr lang="en-US" sz="1480" dirty="0"/>
          </a:p>
        </p:txBody>
      </p:sp>
      <p:sp>
        <p:nvSpPr>
          <p:cNvPr id="33" name="Text 17"/>
          <p:cNvSpPr/>
          <p:nvPr/>
        </p:nvSpPr>
        <p:spPr>
          <a:xfrm>
            <a:off x="9829800" y="4087368"/>
            <a:ext cx="3767328" cy="475488"/>
          </a:xfrm>
          <a:prstGeom prst="rect">
            <a:avLst/>
          </a:prstGeom>
          <a:noFill/>
          <a:ln/>
        </p:spPr>
        <p:txBody>
          <a:bodyPr wrap="squar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revealing untapped </a:t>
            </a:r>
            <a:endParaRPr lang="en-US" sz="1480" dirty="0"/>
          </a:p>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performance potential in other markets.</a:t>
            </a:r>
            <a:endParaRPr lang="en-US" sz="1480" dirty="0"/>
          </a:p>
        </p:txBody>
      </p:sp>
      <p:sp>
        <p:nvSpPr>
          <p:cNvPr id="34" name="Text 18"/>
          <p:cNvSpPr/>
          <p:nvPr/>
        </p:nvSpPr>
        <p:spPr>
          <a:xfrm>
            <a:off x="9829800" y="4727448"/>
            <a:ext cx="3767328" cy="237744"/>
          </a:xfrm>
          <a:prstGeom prst="rect">
            <a:avLst/>
          </a:prstGeom>
          <a:noFill/>
          <a:ln/>
        </p:spPr>
        <p:txBody>
          <a:bodyPr wrap="none" lIns="0" tIns="0" rIns="0" bIns="0" rtlCol="0" anchor="ctr"/>
          <a:lstStyle/>
          <a:p>
            <a:pPr algn="l" indent="0" marL="0">
              <a:lnSpc>
                <a:spcPts val="1850"/>
              </a:lnSpc>
              <a:buNone/>
            </a:pPr>
            <a:r>
              <a:rPr lang="en-US" sz="1480" b="1" dirty="0">
                <a:solidFill>
                  <a:srgbClr val="424242"/>
                </a:solidFill>
                <a:latin typeface="MiSans-MiSans-Regular" pitchFamily="34" charset="0"/>
                <a:ea typeface="MiSans-MiSans-Regular" pitchFamily="34" charset="-122"/>
                <a:cs typeface="MiSans-MiSans-Regular" pitchFamily="34" charset="-120"/>
              </a:rPr>
              <a:t>Recommended Action: </a:t>
            </a:r>
            <a:endParaRPr lang="en-US" sz="1480" dirty="0"/>
          </a:p>
        </p:txBody>
      </p:sp>
      <p:sp>
        <p:nvSpPr>
          <p:cNvPr id="35" name="Text 19"/>
          <p:cNvSpPr/>
          <p:nvPr/>
        </p:nvSpPr>
        <p:spPr>
          <a:xfrm>
            <a:off x="9829800" y="5129784"/>
            <a:ext cx="3767328" cy="475488"/>
          </a:xfrm>
          <a:prstGeom prst="rect">
            <a:avLst/>
          </a:prstGeom>
          <a:noFill/>
          <a:ln/>
        </p:spPr>
        <p:txBody>
          <a:bodyPr wrap="squar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Document and replicate Riyadh's success factors</a:t>
            </a:r>
            <a:endParaRPr lang="en-US" sz="1480" dirty="0"/>
          </a:p>
        </p:txBody>
      </p:sp>
      <p:sp>
        <p:nvSpPr>
          <p:cNvPr id="36" name="Text 20"/>
          <p:cNvSpPr/>
          <p:nvPr/>
        </p:nvSpPr>
        <p:spPr>
          <a:xfrm>
            <a:off x="9829800" y="5779008"/>
            <a:ext cx="3767328" cy="475488"/>
          </a:xfrm>
          <a:prstGeom prst="rect">
            <a:avLst/>
          </a:prstGeom>
          <a:noFill/>
          <a:ln/>
        </p:spPr>
        <p:txBody>
          <a:bodyPr wrap="squar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Develop region-specific growth strategies</a:t>
            </a:r>
            <a:endParaRPr lang="en-US" sz="1480" dirty="0"/>
          </a:p>
        </p:txBody>
      </p:sp>
      <p:sp>
        <p:nvSpPr>
          <p:cNvPr id="37" name="Text 21"/>
          <p:cNvSpPr/>
          <p:nvPr/>
        </p:nvSpPr>
        <p:spPr>
          <a:xfrm>
            <a:off x="9829800" y="6419088"/>
            <a:ext cx="3767328" cy="0"/>
          </a:xfrm>
          <a:prstGeom prst="rect">
            <a:avLst/>
          </a:prstGeom>
          <a:noFill/>
          <a:ln/>
        </p:spPr>
        <p:txBody>
          <a:bodyPr wrap="none" lIns="0" tIns="0" rIns="0" bIns="0" rtlCol="0" anchor="ctr"/>
          <a:lstStyle>
            <a:lvl1pPr algn="l"/>
          </a:lstStyle>
          <a:p>
            <a:pPr algn="l" indent="0" marL="0">
              <a:lnSpc>
                <a:spcPts val="1850"/>
              </a:lnSpc>
              <a:buNone/>
            </a:pPr>
            <a:endParaRPr lang="en-US" sz="1480" dirty="0"/>
          </a:p>
          <a:p>
            <a:pPr algn="l" indent="0" marL="0">
              <a:lnSpc>
                <a:spcPts val="1850"/>
              </a:lnSpc>
              <a:buNone/>
            </a:pPr>
            <a:endParaRPr lang="en-US" sz="1480" dirty="0"/>
          </a:p>
        </p:txBody>
      </p:sp>
      <p:sp>
        <p:nvSpPr>
          <p:cNvPr id="38" name="Text 22"/>
          <p:cNvSpPr/>
          <p:nvPr/>
        </p:nvSpPr>
        <p:spPr>
          <a:xfrm>
            <a:off x="11622024" y="2121408"/>
            <a:ext cx="173736" cy="374904"/>
          </a:xfrm>
          <a:prstGeom prst="rect">
            <a:avLst/>
          </a:prstGeom>
          <a:noFill/>
          <a:ln/>
        </p:spPr>
        <p:txBody>
          <a:bodyPr wrap="none" lIns="0" tIns="0" rIns="0" bIns="0" rtlCol="0" anchor="ctr"/>
          <a:lstStyle/>
          <a:p>
            <a:pPr algn="l" indent="0" marL="0">
              <a:lnSpc>
                <a:spcPts val="2670"/>
              </a:lnSpc>
              <a:buNone/>
            </a:pPr>
            <a:r>
              <a:rPr lang="en-US" sz="2220" dirty="0">
                <a:solidFill>
                  <a:srgbClr val="454545"/>
                </a:solidFill>
                <a:latin typeface="MiSans-MiSans-Regular" pitchFamily="34" charset="0"/>
                <a:ea typeface="MiSans-MiSans-Regular" pitchFamily="34" charset="-122"/>
                <a:cs typeface="MiSans-MiSans-Regular" pitchFamily="34" charset="-120"/>
              </a:rPr>
              <a:t>3</a:t>
            </a:r>
            <a:endParaRPr lang="en-US" sz="22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540496"/>
          </a:xfrm>
          <a:prstGeom prst="rect">
            <a:avLst/>
          </a:prstGeom>
        </p:spPr>
      </p:pic>
      <p:pic>
        <p:nvPicPr>
          <p:cNvPr id="3" name="Image 1" descr="preencoded.png">    </p:cNvPr>
          <p:cNvPicPr>
            <a:picLocks noChangeAspect="1"/>
          </p:cNvPicPr>
          <p:nvPr/>
        </p:nvPicPr>
        <p:blipFill>
          <a:blip r:embed="rId2"/>
          <a:stretch>
            <a:fillRect/>
          </a:stretch>
        </p:blipFill>
        <p:spPr>
          <a:xfrm>
            <a:off x="9656064" y="0"/>
            <a:ext cx="4974336" cy="8540496"/>
          </a:xfrm>
          <a:prstGeom prst="rect">
            <a:avLst/>
          </a:prstGeom>
        </p:spPr>
      </p:pic>
      <p:pic>
        <p:nvPicPr>
          <p:cNvPr id="4" name="Image 2" descr="preencoded.png">    </p:cNvPr>
          <p:cNvPicPr>
            <a:picLocks noChangeAspect="1"/>
          </p:cNvPicPr>
          <p:nvPr/>
        </p:nvPicPr>
        <p:blipFill>
          <a:blip r:embed="rId3"/>
          <a:stretch>
            <a:fillRect/>
          </a:stretch>
        </p:blipFill>
        <p:spPr>
          <a:xfrm>
            <a:off x="832104" y="1453896"/>
            <a:ext cx="8010144" cy="1956816"/>
          </a:xfrm>
          <a:prstGeom prst="rect">
            <a:avLst/>
          </a:prstGeom>
        </p:spPr>
      </p:pic>
      <p:pic>
        <p:nvPicPr>
          <p:cNvPr id="5" name="Image 3" descr="preencoded.png">    </p:cNvPr>
          <p:cNvPicPr>
            <a:picLocks noChangeAspect="1"/>
          </p:cNvPicPr>
          <p:nvPr/>
        </p:nvPicPr>
        <p:blipFill>
          <a:blip r:embed="rId4"/>
          <a:stretch>
            <a:fillRect/>
          </a:stretch>
        </p:blipFill>
        <p:spPr>
          <a:xfrm>
            <a:off x="832104" y="3593592"/>
            <a:ext cx="8010144" cy="1956816"/>
          </a:xfrm>
          <a:prstGeom prst="rect">
            <a:avLst/>
          </a:prstGeom>
        </p:spPr>
      </p:pic>
      <p:pic>
        <p:nvPicPr>
          <p:cNvPr id="6" name="Image 4" descr="preencoded.png">    </p:cNvPr>
          <p:cNvPicPr>
            <a:picLocks noChangeAspect="1"/>
          </p:cNvPicPr>
          <p:nvPr/>
        </p:nvPicPr>
        <p:blipFill>
          <a:blip r:embed="rId5"/>
          <a:stretch>
            <a:fillRect/>
          </a:stretch>
        </p:blipFill>
        <p:spPr>
          <a:xfrm>
            <a:off x="832104" y="5733288"/>
            <a:ext cx="8010144" cy="1956816"/>
          </a:xfrm>
          <a:prstGeom prst="rect">
            <a:avLst/>
          </a:prstGeom>
        </p:spPr>
      </p:pic>
      <p:sp>
        <p:nvSpPr>
          <p:cNvPr id="7" name="Text 0"/>
          <p:cNvSpPr/>
          <p:nvPr/>
        </p:nvSpPr>
        <p:spPr>
          <a:xfrm>
            <a:off x="832104" y="649224"/>
            <a:ext cx="8010144" cy="594360"/>
          </a:xfrm>
          <a:prstGeom prst="rect">
            <a:avLst/>
          </a:prstGeom>
          <a:noFill/>
          <a:ln/>
        </p:spPr>
        <p:txBody>
          <a:bodyPr wrap="none" lIns="0" tIns="0" rIns="0" bIns="0" rtlCol="0" anchor="ctr"/>
          <a:lstStyle/>
          <a:p>
            <a:pPr algn="l" indent="0" marL="0">
              <a:lnSpc>
                <a:spcPts val="4640"/>
              </a:lnSpc>
              <a:buNone/>
            </a:pPr>
            <a:r>
              <a:rPr lang="en-US" sz="3710" dirty="0">
                <a:solidFill>
                  <a:srgbClr val="3F4460"/>
                </a:solidFill>
                <a:latin typeface="思源宋体-思源宋体-Heavy" pitchFamily="34" charset="0"/>
                <a:ea typeface="思源宋体-思源宋体-Heavy" pitchFamily="34" charset="-122"/>
                <a:cs typeface="思源宋体-思源宋体-Heavy" pitchFamily="34" charset="-120"/>
              </a:rPr>
              <a:t>Recommendations</a:t>
            </a:r>
            <a:endParaRPr lang="en-US" sz="3710" dirty="0"/>
          </a:p>
        </p:txBody>
      </p:sp>
      <p:sp>
        <p:nvSpPr>
          <p:cNvPr id="8" name="Text 1"/>
          <p:cNvSpPr/>
          <p:nvPr/>
        </p:nvSpPr>
        <p:spPr>
          <a:xfrm>
            <a:off x="1051560" y="1673352"/>
            <a:ext cx="7571232"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Immediate Actions (1-3 months)</a:t>
            </a:r>
            <a:endParaRPr lang="en-US" sz="1850" dirty="0"/>
          </a:p>
        </p:txBody>
      </p:sp>
      <p:sp>
        <p:nvSpPr>
          <p:cNvPr id="9" name="Text 2"/>
          <p:cNvSpPr/>
          <p:nvPr/>
        </p:nvSpPr>
        <p:spPr>
          <a:xfrm>
            <a:off x="1051560" y="2139696"/>
            <a:ext cx="7571232"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Sales: Performance gap intervention</a:t>
            </a:r>
            <a:endParaRPr lang="en-US" sz="1480" dirty="0"/>
          </a:p>
          <a:p>
            <a:pPr algn="l" marL="342900" indent="-342900">
              <a:lnSpc>
                <a:spcPts val="1850"/>
              </a:lnSpc>
              <a:buSzPct val="100000"/>
              <a:buChar char="•"/>
            </a:pPr>
            <a:endParaRPr lang="en-US" sz="1480" dirty="0"/>
          </a:p>
        </p:txBody>
      </p:sp>
      <p:sp>
        <p:nvSpPr>
          <p:cNvPr id="10" name="Text 3"/>
          <p:cNvSpPr/>
          <p:nvPr/>
        </p:nvSpPr>
        <p:spPr>
          <a:xfrm>
            <a:off x="1051560" y="2542032"/>
            <a:ext cx="7571232"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HR: Training program development</a:t>
            </a:r>
            <a:endParaRPr lang="en-US" sz="1480" dirty="0"/>
          </a:p>
          <a:p>
            <a:pPr algn="l" marL="342900" indent="-342900">
              <a:lnSpc>
                <a:spcPts val="1850"/>
              </a:lnSpc>
              <a:buSzPct val="100000"/>
              <a:buChar char="•"/>
            </a:pPr>
            <a:endParaRPr lang="en-US" sz="1480" dirty="0"/>
          </a:p>
        </p:txBody>
      </p:sp>
      <p:sp>
        <p:nvSpPr>
          <p:cNvPr id="11" name="Text 4"/>
          <p:cNvSpPr/>
          <p:nvPr/>
        </p:nvSpPr>
        <p:spPr>
          <a:xfrm>
            <a:off x="1051560" y="2953512"/>
            <a:ext cx="7571232"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Regional: Success factor documentation</a:t>
            </a:r>
            <a:endParaRPr lang="en-US" sz="1480" dirty="0"/>
          </a:p>
        </p:txBody>
      </p:sp>
      <p:sp>
        <p:nvSpPr>
          <p:cNvPr id="12" name="Text 5"/>
          <p:cNvSpPr/>
          <p:nvPr/>
        </p:nvSpPr>
        <p:spPr>
          <a:xfrm>
            <a:off x="1051560" y="3813048"/>
            <a:ext cx="7571232"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Medium-term Initiatives (3-6 months)</a:t>
            </a:r>
            <a:endParaRPr lang="en-US" sz="1850" dirty="0"/>
          </a:p>
        </p:txBody>
      </p:sp>
      <p:sp>
        <p:nvSpPr>
          <p:cNvPr id="13" name="Text 6"/>
          <p:cNvSpPr/>
          <p:nvPr/>
        </p:nvSpPr>
        <p:spPr>
          <a:xfrm>
            <a:off x="1051560" y="4279392"/>
            <a:ext cx="7571232"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Product: Portfolio rebalancing</a:t>
            </a:r>
            <a:endParaRPr lang="en-US" sz="1480" dirty="0"/>
          </a:p>
        </p:txBody>
      </p:sp>
      <p:sp>
        <p:nvSpPr>
          <p:cNvPr id="14" name="Text 7"/>
          <p:cNvSpPr/>
          <p:nvPr/>
        </p:nvSpPr>
        <p:spPr>
          <a:xfrm>
            <a:off x="1051560" y="4681728"/>
            <a:ext cx="7571232"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Marketing: Campaign execution</a:t>
            </a:r>
            <a:endParaRPr lang="en-US" sz="1480" dirty="0"/>
          </a:p>
        </p:txBody>
      </p:sp>
      <p:sp>
        <p:nvSpPr>
          <p:cNvPr id="15" name="Text 8"/>
          <p:cNvSpPr/>
          <p:nvPr/>
        </p:nvSpPr>
        <p:spPr>
          <a:xfrm>
            <a:off x="1051560" y="5084064"/>
            <a:ext cx="7571232" cy="237744"/>
          </a:xfrm>
          <a:prstGeom prst="rect">
            <a:avLst/>
          </a:prstGeom>
          <a:noFill/>
          <a:ln/>
        </p:spPr>
        <p:txBody>
          <a:bodyPr wrap="none" lIns="0" tIns="0" rIns="0" bIns="0" rtlCol="0" anchor="ctr"/>
          <a:lstStyle/>
          <a:p>
            <a:pPr algn="l" marL="342900" indent="-342900">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 </a:t>
            </a:r>
            <a:pPr algn="l" marL="342900" indent="-342900">
              <a:lnSpc>
                <a:spcPts val="1850"/>
              </a:lnSpc>
              <a:buSzPct val="100000"/>
              <a:buChar char="•"/>
            </a:pPr>
            <a:r>
              <a:rPr lang="en-US" sz="1480" dirty="0">
                <a:solidFill>
                  <a:srgbClr val="424242"/>
                </a:solidFill>
                <a:latin typeface="MiSans-MiSans-Regular" pitchFamily="34" charset="0"/>
                <a:ea typeface="MiSans-MiSans-Regular" pitchFamily="34" charset="-122"/>
                <a:cs typeface="MiSans-MiSans-Regular" pitchFamily="34" charset="-120"/>
              </a:rPr>
              <a:t>Finance: Cost optimization</a:t>
            </a:r>
            <a:endParaRPr lang="en-US" sz="1480" dirty="0"/>
          </a:p>
          <a:p>
            <a:pPr algn="l" marL="342900" indent="-342900">
              <a:lnSpc>
                <a:spcPts val="1850"/>
              </a:lnSpc>
              <a:buSzPct val="100000"/>
              <a:buChar char="•"/>
            </a:pPr>
            <a:endParaRPr lang="en-US" sz="1480" dirty="0"/>
          </a:p>
        </p:txBody>
      </p:sp>
      <p:sp>
        <p:nvSpPr>
          <p:cNvPr id="16" name="Text 9"/>
          <p:cNvSpPr/>
          <p:nvPr/>
        </p:nvSpPr>
        <p:spPr>
          <a:xfrm>
            <a:off x="1051560" y="5952744"/>
            <a:ext cx="7571232" cy="301752"/>
          </a:xfrm>
          <a:prstGeom prst="rect">
            <a:avLst/>
          </a:prstGeom>
          <a:noFill/>
          <a:ln/>
        </p:spPr>
        <p:txBody>
          <a:bodyPr wrap="none" lIns="0" tIns="0" rIns="0" bIns="0" rtlCol="0" anchor="ctr"/>
          <a:lstStyle/>
          <a:p>
            <a:pPr algn="l" indent="0" marL="0">
              <a:lnSpc>
                <a:spcPts val="2320"/>
              </a:lnSpc>
              <a:buNone/>
            </a:pPr>
            <a:r>
              <a:rPr lang="en-US" sz="1850" dirty="0">
                <a:solidFill>
                  <a:srgbClr val="424242"/>
                </a:solidFill>
                <a:latin typeface="思源宋体-思源宋体-Heavy" pitchFamily="34" charset="0"/>
                <a:ea typeface="思源宋体-思源宋体-Heavy" pitchFamily="34" charset="-122"/>
                <a:cs typeface="思源宋体-思源宋体-Heavy" pitchFamily="34" charset="-120"/>
              </a:rPr>
              <a:t>Long-term Strategy (6-12 months)</a:t>
            </a:r>
            <a:endParaRPr lang="en-US" sz="1850" dirty="0"/>
          </a:p>
        </p:txBody>
      </p:sp>
      <p:sp>
        <p:nvSpPr>
          <p:cNvPr id="17" name="Text 10"/>
          <p:cNvSpPr/>
          <p:nvPr/>
        </p:nvSpPr>
        <p:spPr>
          <a:xfrm>
            <a:off x="1051560" y="6419088"/>
            <a:ext cx="7571232"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 Executive: Strategic realignment</a:t>
            </a:r>
            <a:endParaRPr lang="en-US" sz="1480" dirty="0"/>
          </a:p>
        </p:txBody>
      </p:sp>
      <p:sp>
        <p:nvSpPr>
          <p:cNvPr id="18" name="Text 11"/>
          <p:cNvSpPr/>
          <p:nvPr/>
        </p:nvSpPr>
        <p:spPr>
          <a:xfrm>
            <a:off x="1051560" y="6821424"/>
            <a:ext cx="7571232"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 Operations: Process improvement</a:t>
            </a:r>
            <a:endParaRPr lang="en-US" sz="1480" dirty="0"/>
          </a:p>
        </p:txBody>
      </p:sp>
      <p:sp>
        <p:nvSpPr>
          <p:cNvPr id="19" name="Text 12"/>
          <p:cNvSpPr/>
          <p:nvPr/>
        </p:nvSpPr>
        <p:spPr>
          <a:xfrm>
            <a:off x="1051560" y="7223760"/>
            <a:ext cx="7571232" cy="237744"/>
          </a:xfrm>
          <a:prstGeom prst="rect">
            <a:avLst/>
          </a:prstGeom>
          <a:noFill/>
          <a:ln/>
        </p:spPr>
        <p:txBody>
          <a:bodyPr wrap="none" lIns="0" tIns="0" rIns="0" bIns="0" rtlCol="0" anchor="ctr"/>
          <a:lstStyle/>
          <a:p>
            <a:pPr algn="l" indent="0" marL="0">
              <a:lnSpc>
                <a:spcPts val="1850"/>
              </a:lnSpc>
              <a:buNone/>
            </a:pPr>
            <a:r>
              <a:rPr lang="en-US" sz="1480" dirty="0">
                <a:solidFill>
                  <a:srgbClr val="424242"/>
                </a:solidFill>
                <a:latin typeface="MiSans-MiSans-Regular" pitchFamily="34" charset="0"/>
                <a:ea typeface="MiSans-MiSans-Regular" pitchFamily="34" charset="-122"/>
                <a:cs typeface="MiSans-MiSans-Regular" pitchFamily="34" charset="-120"/>
              </a:rPr>
              <a:t>• Cross-functional: Collaboration enhancement</a:t>
            </a:r>
            <a:endParaRPr lang="en-US" sz="1480" dirty="0"/>
          </a:p>
          <a:p>
            <a:pPr algn="l" indent="0" marL="0">
              <a:lnSpc>
                <a:spcPts val="1850"/>
              </a:lnSpc>
              <a:buNone/>
            </a:pPr>
            <a:pPr algn="l" indent="0" marL="0">
              <a:lnSpc>
                <a:spcPts val="1850"/>
              </a:lnSpc>
              <a:buNone/>
            </a:pPr>
            <a:endParaRPr lang="en-US" sz="1480" dirty="0"/>
          </a:p>
          <a:p>
            <a:pPr algn="l" indent="0" marL="0">
              <a:lnSpc>
                <a:spcPts val="1850"/>
              </a:lnSpc>
              <a:buNone/>
            </a:pPr>
            <a:endParaRPr lang="en-US" sz="1480" dirty="0"/>
          </a:p>
          <a:p>
            <a:pPr algn="l" indent="0" marL="0">
              <a:lnSpc>
                <a:spcPts val="1850"/>
              </a:lnSpc>
              <a:buNone/>
            </a:pPr>
            <a:endParaRPr lang="en-US" sz="14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8238744"/>
          </a:xfrm>
          <a:prstGeom prst="rect">
            <a:avLst/>
          </a:prstGeom>
        </p:spPr>
      </p:pic>
      <p:sp>
        <p:nvSpPr>
          <p:cNvPr id="4" name="Text 0"/>
          <p:cNvSpPr/>
          <p:nvPr/>
        </p:nvSpPr>
        <p:spPr>
          <a:xfrm>
            <a:off x="832104" y="1014984"/>
            <a:ext cx="12984480" cy="822960"/>
          </a:xfrm>
          <a:prstGeom prst="rect">
            <a:avLst/>
          </a:prstGeom>
          <a:noFill/>
          <a:ln/>
        </p:spPr>
        <p:txBody>
          <a:bodyPr wrap="none" lIns="0" tIns="0" rIns="0" bIns="0" rtlCol="0" anchor="ctr"/>
          <a:lstStyle/>
          <a:p>
            <a:pPr algn="ctr" indent="0" marL="0">
              <a:lnSpc>
                <a:spcPts val="6410"/>
              </a:lnSpc>
              <a:buNone/>
            </a:pPr>
            <a:endParaRPr lang="en-US" sz="5120" dirty="0"/>
          </a:p>
        </p:txBody>
      </p:sp>
      <p:sp>
        <p:nvSpPr>
          <p:cNvPr id="5" name="Text 1"/>
          <p:cNvSpPr/>
          <p:nvPr/>
        </p:nvSpPr>
        <p:spPr>
          <a:xfrm>
            <a:off x="832104" y="2039112"/>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6" name="Text 2"/>
          <p:cNvSpPr/>
          <p:nvPr/>
        </p:nvSpPr>
        <p:spPr>
          <a:xfrm>
            <a:off x="832104" y="2487168"/>
            <a:ext cx="12984480" cy="822960"/>
          </a:xfrm>
          <a:prstGeom prst="rect">
            <a:avLst/>
          </a:prstGeom>
          <a:noFill/>
          <a:ln/>
        </p:spPr>
        <p:txBody>
          <a:bodyPr wrap="none" lIns="0" tIns="0" rIns="0" bIns="0" rtlCol="0" anchor="ctr"/>
          <a:lstStyle/>
          <a:p>
            <a:pPr algn="ctr" indent="0" marL="0">
              <a:lnSpc>
                <a:spcPts val="6410"/>
              </a:lnSpc>
              <a:buNone/>
            </a:pPr>
            <a:endParaRPr lang="en-US" sz="5120" dirty="0"/>
          </a:p>
        </p:txBody>
      </p:sp>
      <p:sp>
        <p:nvSpPr>
          <p:cNvPr id="7" name="Text 3"/>
          <p:cNvSpPr/>
          <p:nvPr/>
        </p:nvSpPr>
        <p:spPr>
          <a:xfrm>
            <a:off x="832104" y="3511296"/>
            <a:ext cx="12984480" cy="822960"/>
          </a:xfrm>
          <a:prstGeom prst="rect">
            <a:avLst/>
          </a:prstGeom>
          <a:noFill/>
          <a:ln/>
        </p:spPr>
        <p:txBody>
          <a:bodyPr wrap="none" lIns="0" tIns="0" rIns="0" bIns="0" rtlCol="0" anchor="ctr"/>
          <a:lstStyle/>
          <a:p>
            <a:pPr algn="ctr" indent="0" marL="0">
              <a:lnSpc>
                <a:spcPts val="6410"/>
              </a:lnSpc>
              <a:buNone/>
            </a:pPr>
            <a:r>
              <a:rPr lang="en-US" sz="5120" dirty="0">
                <a:solidFill>
                  <a:srgbClr val="3F4460"/>
                </a:solidFill>
                <a:latin typeface="思源宋体-思源宋体-Heavy" pitchFamily="34" charset="0"/>
                <a:ea typeface="思源宋体-思源宋体-Heavy" pitchFamily="34" charset="-122"/>
                <a:cs typeface="思源宋体-思源宋体-Heavy" pitchFamily="34" charset="-120"/>
              </a:rPr>
              <a:t>Thank You</a:t>
            </a:r>
            <a:endParaRPr lang="en-US" sz="5120" dirty="0"/>
          </a:p>
        </p:txBody>
      </p:sp>
      <p:sp>
        <p:nvSpPr>
          <p:cNvPr id="8" name="Text 4"/>
          <p:cNvSpPr/>
          <p:nvPr/>
        </p:nvSpPr>
        <p:spPr>
          <a:xfrm>
            <a:off x="832104" y="4535424"/>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9" name="Text 5"/>
          <p:cNvSpPr/>
          <p:nvPr/>
        </p:nvSpPr>
        <p:spPr>
          <a:xfrm>
            <a:off x="832104" y="4983480"/>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0" name="Text 6"/>
          <p:cNvSpPr/>
          <p:nvPr/>
        </p:nvSpPr>
        <p:spPr>
          <a:xfrm>
            <a:off x="832104" y="5431536"/>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1" name="Text 7"/>
          <p:cNvSpPr/>
          <p:nvPr/>
        </p:nvSpPr>
        <p:spPr>
          <a:xfrm>
            <a:off x="832104" y="5879592"/>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2" name="Text 8"/>
          <p:cNvSpPr/>
          <p:nvPr/>
        </p:nvSpPr>
        <p:spPr>
          <a:xfrm>
            <a:off x="832104" y="632764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
        <p:nvSpPr>
          <p:cNvPr id="13" name="Text 9"/>
          <p:cNvSpPr/>
          <p:nvPr/>
        </p:nvSpPr>
        <p:spPr>
          <a:xfrm>
            <a:off x="832104" y="6784848"/>
            <a:ext cx="12984480" cy="237744"/>
          </a:xfrm>
          <a:prstGeom prst="rect">
            <a:avLst/>
          </a:prstGeom>
          <a:noFill/>
          <a:ln/>
        </p:spPr>
        <p:txBody>
          <a:bodyPr wrap="none" lIns="0" tIns="0" rIns="0" bIns="0" rtlCol="0" anchor="ctr"/>
          <a:lstStyle/>
          <a:p>
            <a:pPr algn="l" indent="0" marL="0">
              <a:lnSpc>
                <a:spcPts val="1850"/>
              </a:lnSpc>
              <a:buNone/>
            </a:pPr>
            <a:endParaRPr lang="en-US" sz="14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2025-10-09T20:32:41Z</dcterms:created>
  <dcterms:modified xsi:type="dcterms:W3CDTF">2025-10-09T20:32:41Z</dcterms:modified>
</cp:coreProperties>
</file>